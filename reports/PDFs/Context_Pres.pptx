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80" r:id="rId3"/>
    <p:sldId id="281" r:id="rId4"/>
    <p:sldId id="259" r:id="rId5"/>
    <p:sldId id="267" r:id="rId6"/>
    <p:sldId id="282" r:id="rId7"/>
    <p:sldId id="261" r:id="rId8"/>
    <p:sldId id="263" r:id="rId9"/>
    <p:sldId id="264" r:id="rId10"/>
    <p:sldId id="262" r:id="rId11"/>
    <p:sldId id="271" r:id="rId12"/>
    <p:sldId id="270" r:id="rId13"/>
    <p:sldId id="283" r:id="rId14"/>
    <p:sldId id="268" r:id="rId15"/>
    <p:sldId id="269" r:id="rId16"/>
    <p:sldId id="274" r:id="rId17"/>
    <p:sldId id="273" r:id="rId18"/>
    <p:sldId id="275" r:id="rId19"/>
    <p:sldId id="276" r:id="rId20"/>
    <p:sldId id="279" r:id="rId21"/>
    <p:sldId id="278" r:id="rId22"/>
    <p:sldId id="284" r:id="rId23"/>
    <p:sldId id="285" r:id="rId24"/>
    <p:sldId id="286" r:id="rId25"/>
    <p:sldId id="272" r:id="rId26"/>
    <p:sldId id="26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9B12FB-FE6D-924D-82C6-7E68F2455C32}" v="107" dt="2025-09-01T15:04:44.3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95"/>
    <p:restoredTop sz="94729"/>
  </p:normalViewPr>
  <p:slideViewPr>
    <p:cSldViewPr snapToGrid="0">
      <p:cViewPr varScale="1">
        <p:scale>
          <a:sx n="112" d="100"/>
          <a:sy n="112" d="100"/>
        </p:scale>
        <p:origin x="3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F6AA56-7BD2-944A-BDAC-C48531D698CE}" type="datetimeFigureOut">
              <a:rPr lang="en-US" smtClean="0"/>
              <a:t>8/29/25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7C44D4-1A57-5B49-982E-867C708341BB}" type="slidenum">
              <a:rPr lang="en-US" smtClean="0"/>
              <a:t>‹#›</a:t>
            </a:fld>
            <a:endParaRPr lang="en-US"/>
          </a:p>
        </p:txBody>
      </p:sp>
    </p:spTree>
    <p:extLst>
      <p:ext uri="{BB962C8B-B14F-4D97-AF65-F5344CB8AC3E}">
        <p14:creationId xmlns:p14="http://schemas.microsoft.com/office/powerpoint/2010/main" val="2168677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7C44D4-1A57-5B49-982E-867C708341BB}" type="slidenum">
              <a:rPr lang="en-US" smtClean="0"/>
              <a:t>14</a:t>
            </a:fld>
            <a:endParaRPr lang="en-US"/>
          </a:p>
        </p:txBody>
      </p:sp>
    </p:spTree>
    <p:extLst>
      <p:ext uri="{BB962C8B-B14F-4D97-AF65-F5344CB8AC3E}">
        <p14:creationId xmlns:p14="http://schemas.microsoft.com/office/powerpoint/2010/main" val="2754656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D0102-45D5-1753-00F2-C64C8FEE79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0A125A-5C2C-8B27-70F1-9EBE2883C2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338B29-D37C-19D7-64B0-8B1775287B02}"/>
              </a:ext>
            </a:extLst>
          </p:cNvPr>
          <p:cNvSpPr>
            <a:spLocks noGrp="1"/>
          </p:cNvSpPr>
          <p:nvPr>
            <p:ph type="dt" sz="half" idx="10"/>
          </p:nvPr>
        </p:nvSpPr>
        <p:spPr/>
        <p:txBody>
          <a:bodyPr/>
          <a:lstStyle/>
          <a:p>
            <a:fld id="{6D02DF5F-A450-5848-84F0-2042708D6991}" type="datetimeFigureOut">
              <a:rPr lang="en-US" smtClean="0"/>
              <a:t>8/29/25</a:t>
            </a:fld>
            <a:endParaRPr lang="en-US"/>
          </a:p>
        </p:txBody>
      </p:sp>
      <p:sp>
        <p:nvSpPr>
          <p:cNvPr id="5" name="Footer Placeholder 4">
            <a:extLst>
              <a:ext uri="{FF2B5EF4-FFF2-40B4-BE49-F238E27FC236}">
                <a16:creationId xmlns:a16="http://schemas.microsoft.com/office/drawing/2014/main" id="{B12139A7-76DC-7C10-4F0F-6BA30F2C64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2E1BD2-25A8-A32F-D217-C48A5E370D09}"/>
              </a:ext>
            </a:extLst>
          </p:cNvPr>
          <p:cNvSpPr>
            <a:spLocks noGrp="1"/>
          </p:cNvSpPr>
          <p:nvPr>
            <p:ph type="sldNum" sz="quarter" idx="12"/>
          </p:nvPr>
        </p:nvSpPr>
        <p:spPr/>
        <p:txBody>
          <a:bodyPr/>
          <a:lstStyle/>
          <a:p>
            <a:fld id="{FD2D7370-D8CC-9E4F-9E18-73B20DF1982A}" type="slidenum">
              <a:rPr lang="en-US" smtClean="0"/>
              <a:t>‹#›</a:t>
            </a:fld>
            <a:endParaRPr lang="en-US"/>
          </a:p>
        </p:txBody>
      </p:sp>
    </p:spTree>
    <p:extLst>
      <p:ext uri="{BB962C8B-B14F-4D97-AF65-F5344CB8AC3E}">
        <p14:creationId xmlns:p14="http://schemas.microsoft.com/office/powerpoint/2010/main" val="402687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43AC9-2B6B-4E65-2DB5-E79B0A4C58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D3CABA-666B-006C-F06E-70028BDEFE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7602A6-0777-FDF3-71DC-AE79AFF79669}"/>
              </a:ext>
            </a:extLst>
          </p:cNvPr>
          <p:cNvSpPr>
            <a:spLocks noGrp="1"/>
          </p:cNvSpPr>
          <p:nvPr>
            <p:ph type="dt" sz="half" idx="10"/>
          </p:nvPr>
        </p:nvSpPr>
        <p:spPr/>
        <p:txBody>
          <a:bodyPr/>
          <a:lstStyle/>
          <a:p>
            <a:fld id="{6D02DF5F-A450-5848-84F0-2042708D6991}" type="datetimeFigureOut">
              <a:rPr lang="en-US" smtClean="0"/>
              <a:t>8/29/25</a:t>
            </a:fld>
            <a:endParaRPr lang="en-US"/>
          </a:p>
        </p:txBody>
      </p:sp>
      <p:sp>
        <p:nvSpPr>
          <p:cNvPr id="5" name="Footer Placeholder 4">
            <a:extLst>
              <a:ext uri="{FF2B5EF4-FFF2-40B4-BE49-F238E27FC236}">
                <a16:creationId xmlns:a16="http://schemas.microsoft.com/office/drawing/2014/main" id="{5D263529-CE5F-07D6-5ACE-78D2519F5D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1C1B2F-7CC6-580F-F711-9DE153374E10}"/>
              </a:ext>
            </a:extLst>
          </p:cNvPr>
          <p:cNvSpPr>
            <a:spLocks noGrp="1"/>
          </p:cNvSpPr>
          <p:nvPr>
            <p:ph type="sldNum" sz="quarter" idx="12"/>
          </p:nvPr>
        </p:nvSpPr>
        <p:spPr/>
        <p:txBody>
          <a:bodyPr/>
          <a:lstStyle/>
          <a:p>
            <a:fld id="{FD2D7370-D8CC-9E4F-9E18-73B20DF1982A}" type="slidenum">
              <a:rPr lang="en-US" smtClean="0"/>
              <a:t>‹#›</a:t>
            </a:fld>
            <a:endParaRPr lang="en-US"/>
          </a:p>
        </p:txBody>
      </p:sp>
    </p:spTree>
    <p:extLst>
      <p:ext uri="{BB962C8B-B14F-4D97-AF65-F5344CB8AC3E}">
        <p14:creationId xmlns:p14="http://schemas.microsoft.com/office/powerpoint/2010/main" val="169574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704F1-DBEE-F02D-50F3-59F668CB10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480905-EDCB-55BB-CC59-B3F136A767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E69AEE-1EAE-3407-0F42-C107B8BE036D}"/>
              </a:ext>
            </a:extLst>
          </p:cNvPr>
          <p:cNvSpPr>
            <a:spLocks noGrp="1"/>
          </p:cNvSpPr>
          <p:nvPr>
            <p:ph type="dt" sz="half" idx="10"/>
          </p:nvPr>
        </p:nvSpPr>
        <p:spPr/>
        <p:txBody>
          <a:bodyPr/>
          <a:lstStyle/>
          <a:p>
            <a:fld id="{6D02DF5F-A450-5848-84F0-2042708D6991}" type="datetimeFigureOut">
              <a:rPr lang="en-US" smtClean="0"/>
              <a:t>8/29/25</a:t>
            </a:fld>
            <a:endParaRPr lang="en-US"/>
          </a:p>
        </p:txBody>
      </p:sp>
      <p:sp>
        <p:nvSpPr>
          <p:cNvPr id="5" name="Footer Placeholder 4">
            <a:extLst>
              <a:ext uri="{FF2B5EF4-FFF2-40B4-BE49-F238E27FC236}">
                <a16:creationId xmlns:a16="http://schemas.microsoft.com/office/drawing/2014/main" id="{91958783-B1A5-6465-113B-8AA709C321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0B26C7-1C08-F4EE-DDF5-D92BA37A2CA0}"/>
              </a:ext>
            </a:extLst>
          </p:cNvPr>
          <p:cNvSpPr>
            <a:spLocks noGrp="1"/>
          </p:cNvSpPr>
          <p:nvPr>
            <p:ph type="sldNum" sz="quarter" idx="12"/>
          </p:nvPr>
        </p:nvSpPr>
        <p:spPr/>
        <p:txBody>
          <a:bodyPr/>
          <a:lstStyle/>
          <a:p>
            <a:fld id="{FD2D7370-D8CC-9E4F-9E18-73B20DF1982A}" type="slidenum">
              <a:rPr lang="en-US" smtClean="0"/>
              <a:t>‹#›</a:t>
            </a:fld>
            <a:endParaRPr lang="en-US"/>
          </a:p>
        </p:txBody>
      </p:sp>
    </p:spTree>
    <p:extLst>
      <p:ext uri="{BB962C8B-B14F-4D97-AF65-F5344CB8AC3E}">
        <p14:creationId xmlns:p14="http://schemas.microsoft.com/office/powerpoint/2010/main" val="4016450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2B9AD-5BE9-D2EA-533E-05A25512D5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9D59B1-BDE4-6265-778A-C05F69148B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295DEF-FA96-C79E-66B4-E4BC356785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1CA8C16-A3AF-501A-7CF0-1A6EFFD93AB7}"/>
              </a:ext>
            </a:extLst>
          </p:cNvPr>
          <p:cNvSpPr>
            <a:spLocks noGrp="1"/>
          </p:cNvSpPr>
          <p:nvPr>
            <p:ph type="dt" sz="half" idx="10"/>
          </p:nvPr>
        </p:nvSpPr>
        <p:spPr/>
        <p:txBody>
          <a:bodyPr/>
          <a:lstStyle/>
          <a:p>
            <a:fld id="{6D02DF5F-A450-5848-84F0-2042708D6991}" type="datetimeFigureOut">
              <a:rPr lang="en-US" smtClean="0"/>
              <a:t>8/29/25</a:t>
            </a:fld>
            <a:endParaRPr lang="en-US"/>
          </a:p>
        </p:txBody>
      </p:sp>
      <p:sp>
        <p:nvSpPr>
          <p:cNvPr id="6" name="Footer Placeholder 5">
            <a:extLst>
              <a:ext uri="{FF2B5EF4-FFF2-40B4-BE49-F238E27FC236}">
                <a16:creationId xmlns:a16="http://schemas.microsoft.com/office/drawing/2014/main" id="{1C4773FE-7D24-0670-7116-108B54E243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9402CD-3649-A08C-630E-4CC75A2678E3}"/>
              </a:ext>
            </a:extLst>
          </p:cNvPr>
          <p:cNvSpPr>
            <a:spLocks noGrp="1"/>
          </p:cNvSpPr>
          <p:nvPr>
            <p:ph type="sldNum" sz="quarter" idx="12"/>
          </p:nvPr>
        </p:nvSpPr>
        <p:spPr/>
        <p:txBody>
          <a:bodyPr/>
          <a:lstStyle/>
          <a:p>
            <a:fld id="{FD2D7370-D8CC-9E4F-9E18-73B20DF1982A}" type="slidenum">
              <a:rPr lang="en-US" smtClean="0"/>
              <a:t>‹#›</a:t>
            </a:fld>
            <a:endParaRPr lang="en-US"/>
          </a:p>
        </p:txBody>
      </p:sp>
    </p:spTree>
    <p:extLst>
      <p:ext uri="{BB962C8B-B14F-4D97-AF65-F5344CB8AC3E}">
        <p14:creationId xmlns:p14="http://schemas.microsoft.com/office/powerpoint/2010/main" val="2058880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F7BB5-EBFE-CC33-A6B1-9ED84B31CD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67CFCD1-550A-BE0E-D55E-8F0E6811AF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D47BB0-D835-F728-BACA-1B77361BF0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3F6BDA-0BE5-BE7F-2852-5172E0703B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57B1AB-D4F7-F0D9-827A-7B7544187D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EC7EB7A-502F-3AA1-4931-F22C1E044B7C}"/>
              </a:ext>
            </a:extLst>
          </p:cNvPr>
          <p:cNvSpPr>
            <a:spLocks noGrp="1"/>
          </p:cNvSpPr>
          <p:nvPr>
            <p:ph type="dt" sz="half" idx="10"/>
          </p:nvPr>
        </p:nvSpPr>
        <p:spPr/>
        <p:txBody>
          <a:bodyPr/>
          <a:lstStyle/>
          <a:p>
            <a:fld id="{6D02DF5F-A450-5848-84F0-2042708D6991}" type="datetimeFigureOut">
              <a:rPr lang="en-US" smtClean="0"/>
              <a:t>8/29/25</a:t>
            </a:fld>
            <a:endParaRPr lang="en-US"/>
          </a:p>
        </p:txBody>
      </p:sp>
      <p:sp>
        <p:nvSpPr>
          <p:cNvPr id="8" name="Footer Placeholder 7">
            <a:extLst>
              <a:ext uri="{FF2B5EF4-FFF2-40B4-BE49-F238E27FC236}">
                <a16:creationId xmlns:a16="http://schemas.microsoft.com/office/drawing/2014/main" id="{900FCFE4-74B3-60DA-F393-30FD9668E9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3D743B-62F3-4F3D-A030-4BD9C59EAE00}"/>
              </a:ext>
            </a:extLst>
          </p:cNvPr>
          <p:cNvSpPr>
            <a:spLocks noGrp="1"/>
          </p:cNvSpPr>
          <p:nvPr>
            <p:ph type="sldNum" sz="quarter" idx="12"/>
          </p:nvPr>
        </p:nvSpPr>
        <p:spPr/>
        <p:txBody>
          <a:bodyPr/>
          <a:lstStyle/>
          <a:p>
            <a:fld id="{FD2D7370-D8CC-9E4F-9E18-73B20DF1982A}" type="slidenum">
              <a:rPr lang="en-US" smtClean="0"/>
              <a:t>‹#›</a:t>
            </a:fld>
            <a:endParaRPr lang="en-US"/>
          </a:p>
        </p:txBody>
      </p:sp>
    </p:spTree>
    <p:extLst>
      <p:ext uri="{BB962C8B-B14F-4D97-AF65-F5344CB8AC3E}">
        <p14:creationId xmlns:p14="http://schemas.microsoft.com/office/powerpoint/2010/main" val="63957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91971-DDB4-59B3-45D3-C1BD887D44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5BB960-A483-AF85-F5A2-AAD23B0C3B28}"/>
              </a:ext>
            </a:extLst>
          </p:cNvPr>
          <p:cNvSpPr>
            <a:spLocks noGrp="1"/>
          </p:cNvSpPr>
          <p:nvPr>
            <p:ph type="dt" sz="half" idx="10"/>
          </p:nvPr>
        </p:nvSpPr>
        <p:spPr/>
        <p:txBody>
          <a:bodyPr/>
          <a:lstStyle/>
          <a:p>
            <a:fld id="{6D02DF5F-A450-5848-84F0-2042708D6991}" type="datetimeFigureOut">
              <a:rPr lang="en-US" smtClean="0"/>
              <a:t>8/29/25</a:t>
            </a:fld>
            <a:endParaRPr lang="en-US"/>
          </a:p>
        </p:txBody>
      </p:sp>
      <p:sp>
        <p:nvSpPr>
          <p:cNvPr id="4" name="Footer Placeholder 3">
            <a:extLst>
              <a:ext uri="{FF2B5EF4-FFF2-40B4-BE49-F238E27FC236}">
                <a16:creationId xmlns:a16="http://schemas.microsoft.com/office/drawing/2014/main" id="{28D0A45F-17D3-7DCC-6EBD-D5268843CD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C1E6D8-4C4A-4E25-94C7-E3D1C4E4D0F1}"/>
              </a:ext>
            </a:extLst>
          </p:cNvPr>
          <p:cNvSpPr>
            <a:spLocks noGrp="1"/>
          </p:cNvSpPr>
          <p:nvPr>
            <p:ph type="sldNum" sz="quarter" idx="12"/>
          </p:nvPr>
        </p:nvSpPr>
        <p:spPr/>
        <p:txBody>
          <a:bodyPr/>
          <a:lstStyle/>
          <a:p>
            <a:fld id="{FD2D7370-D8CC-9E4F-9E18-73B20DF1982A}" type="slidenum">
              <a:rPr lang="en-US" smtClean="0"/>
              <a:t>‹#›</a:t>
            </a:fld>
            <a:endParaRPr lang="en-US"/>
          </a:p>
        </p:txBody>
      </p:sp>
    </p:spTree>
    <p:extLst>
      <p:ext uri="{BB962C8B-B14F-4D97-AF65-F5344CB8AC3E}">
        <p14:creationId xmlns:p14="http://schemas.microsoft.com/office/powerpoint/2010/main" val="3002368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F9626A-F3E6-B5FA-A3BC-505A605FA71E}"/>
              </a:ext>
            </a:extLst>
          </p:cNvPr>
          <p:cNvSpPr>
            <a:spLocks noGrp="1"/>
          </p:cNvSpPr>
          <p:nvPr>
            <p:ph type="dt" sz="half" idx="10"/>
          </p:nvPr>
        </p:nvSpPr>
        <p:spPr/>
        <p:txBody>
          <a:bodyPr/>
          <a:lstStyle/>
          <a:p>
            <a:fld id="{6D02DF5F-A450-5848-84F0-2042708D6991}" type="datetimeFigureOut">
              <a:rPr lang="en-US" smtClean="0"/>
              <a:t>8/29/25</a:t>
            </a:fld>
            <a:endParaRPr lang="en-US"/>
          </a:p>
        </p:txBody>
      </p:sp>
      <p:sp>
        <p:nvSpPr>
          <p:cNvPr id="3" name="Footer Placeholder 2">
            <a:extLst>
              <a:ext uri="{FF2B5EF4-FFF2-40B4-BE49-F238E27FC236}">
                <a16:creationId xmlns:a16="http://schemas.microsoft.com/office/drawing/2014/main" id="{754A012B-38E1-30BD-C902-87E661DBEA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8DB365-E5D0-B739-6D17-6E9706964B68}"/>
              </a:ext>
            </a:extLst>
          </p:cNvPr>
          <p:cNvSpPr>
            <a:spLocks noGrp="1"/>
          </p:cNvSpPr>
          <p:nvPr>
            <p:ph type="sldNum" sz="quarter" idx="12"/>
          </p:nvPr>
        </p:nvSpPr>
        <p:spPr/>
        <p:txBody>
          <a:bodyPr/>
          <a:lstStyle/>
          <a:p>
            <a:fld id="{FD2D7370-D8CC-9E4F-9E18-73B20DF1982A}" type="slidenum">
              <a:rPr lang="en-US" smtClean="0"/>
              <a:t>‹#›</a:t>
            </a:fld>
            <a:endParaRPr lang="en-US"/>
          </a:p>
        </p:txBody>
      </p:sp>
    </p:spTree>
    <p:extLst>
      <p:ext uri="{BB962C8B-B14F-4D97-AF65-F5344CB8AC3E}">
        <p14:creationId xmlns:p14="http://schemas.microsoft.com/office/powerpoint/2010/main" val="509814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B5702-BDFB-89C7-5C2F-943045707E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D22AFC-A2E8-0922-95AF-F71C25319A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C37473-E36D-3ADE-FB86-DD7B13387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21E61C-6A44-8466-43D3-90B7F826D6D9}"/>
              </a:ext>
            </a:extLst>
          </p:cNvPr>
          <p:cNvSpPr>
            <a:spLocks noGrp="1"/>
          </p:cNvSpPr>
          <p:nvPr>
            <p:ph type="dt" sz="half" idx="10"/>
          </p:nvPr>
        </p:nvSpPr>
        <p:spPr/>
        <p:txBody>
          <a:bodyPr/>
          <a:lstStyle/>
          <a:p>
            <a:fld id="{6D02DF5F-A450-5848-84F0-2042708D6991}" type="datetimeFigureOut">
              <a:rPr lang="en-US" smtClean="0"/>
              <a:t>8/29/25</a:t>
            </a:fld>
            <a:endParaRPr lang="en-US"/>
          </a:p>
        </p:txBody>
      </p:sp>
      <p:sp>
        <p:nvSpPr>
          <p:cNvPr id="6" name="Footer Placeholder 5">
            <a:extLst>
              <a:ext uri="{FF2B5EF4-FFF2-40B4-BE49-F238E27FC236}">
                <a16:creationId xmlns:a16="http://schemas.microsoft.com/office/drawing/2014/main" id="{B12B3CDE-DC57-570C-7789-2ABC263ED8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BA0856-EEB8-6A09-6684-71C9285C99FE}"/>
              </a:ext>
            </a:extLst>
          </p:cNvPr>
          <p:cNvSpPr>
            <a:spLocks noGrp="1"/>
          </p:cNvSpPr>
          <p:nvPr>
            <p:ph type="sldNum" sz="quarter" idx="12"/>
          </p:nvPr>
        </p:nvSpPr>
        <p:spPr/>
        <p:txBody>
          <a:bodyPr/>
          <a:lstStyle/>
          <a:p>
            <a:fld id="{FD2D7370-D8CC-9E4F-9E18-73B20DF1982A}" type="slidenum">
              <a:rPr lang="en-US" smtClean="0"/>
              <a:t>‹#›</a:t>
            </a:fld>
            <a:endParaRPr lang="en-US"/>
          </a:p>
        </p:txBody>
      </p:sp>
    </p:spTree>
    <p:extLst>
      <p:ext uri="{BB962C8B-B14F-4D97-AF65-F5344CB8AC3E}">
        <p14:creationId xmlns:p14="http://schemas.microsoft.com/office/powerpoint/2010/main" val="3984344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3129F-0AEB-B6B6-C270-51099CB304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A2CA73-D560-41A7-BCD9-32B7EA40D0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8C44F9-9D58-1977-6C57-28700B2238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EF2D90-09D8-EAD2-C443-B672AD63A23C}"/>
              </a:ext>
            </a:extLst>
          </p:cNvPr>
          <p:cNvSpPr>
            <a:spLocks noGrp="1"/>
          </p:cNvSpPr>
          <p:nvPr>
            <p:ph type="dt" sz="half" idx="10"/>
          </p:nvPr>
        </p:nvSpPr>
        <p:spPr/>
        <p:txBody>
          <a:bodyPr/>
          <a:lstStyle/>
          <a:p>
            <a:fld id="{6D02DF5F-A450-5848-84F0-2042708D6991}" type="datetimeFigureOut">
              <a:rPr lang="en-US" smtClean="0"/>
              <a:t>8/29/25</a:t>
            </a:fld>
            <a:endParaRPr lang="en-US"/>
          </a:p>
        </p:txBody>
      </p:sp>
      <p:sp>
        <p:nvSpPr>
          <p:cNvPr id="6" name="Footer Placeholder 5">
            <a:extLst>
              <a:ext uri="{FF2B5EF4-FFF2-40B4-BE49-F238E27FC236}">
                <a16:creationId xmlns:a16="http://schemas.microsoft.com/office/drawing/2014/main" id="{58D3D54B-8C34-9684-9633-111C92D0F4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8B79BC-958B-BA23-009D-E662B922E0FD}"/>
              </a:ext>
            </a:extLst>
          </p:cNvPr>
          <p:cNvSpPr>
            <a:spLocks noGrp="1"/>
          </p:cNvSpPr>
          <p:nvPr>
            <p:ph type="sldNum" sz="quarter" idx="12"/>
          </p:nvPr>
        </p:nvSpPr>
        <p:spPr/>
        <p:txBody>
          <a:bodyPr/>
          <a:lstStyle/>
          <a:p>
            <a:fld id="{FD2D7370-D8CC-9E4F-9E18-73B20DF1982A}" type="slidenum">
              <a:rPr lang="en-US" smtClean="0"/>
              <a:t>‹#›</a:t>
            </a:fld>
            <a:endParaRPr lang="en-US"/>
          </a:p>
        </p:txBody>
      </p:sp>
    </p:spTree>
    <p:extLst>
      <p:ext uri="{BB962C8B-B14F-4D97-AF65-F5344CB8AC3E}">
        <p14:creationId xmlns:p14="http://schemas.microsoft.com/office/powerpoint/2010/main" val="1072571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95393-CDEA-A15B-7B97-0FD21964CD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B7F341-C135-6368-3C12-AC20DDFFEA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A50882-8036-C276-8622-D510AEB1B878}"/>
              </a:ext>
            </a:extLst>
          </p:cNvPr>
          <p:cNvSpPr>
            <a:spLocks noGrp="1"/>
          </p:cNvSpPr>
          <p:nvPr>
            <p:ph type="dt" sz="half" idx="10"/>
          </p:nvPr>
        </p:nvSpPr>
        <p:spPr/>
        <p:txBody>
          <a:bodyPr/>
          <a:lstStyle/>
          <a:p>
            <a:fld id="{6D02DF5F-A450-5848-84F0-2042708D6991}" type="datetimeFigureOut">
              <a:rPr lang="en-US" smtClean="0"/>
              <a:t>8/29/25</a:t>
            </a:fld>
            <a:endParaRPr lang="en-US"/>
          </a:p>
        </p:txBody>
      </p:sp>
      <p:sp>
        <p:nvSpPr>
          <p:cNvPr id="5" name="Footer Placeholder 4">
            <a:extLst>
              <a:ext uri="{FF2B5EF4-FFF2-40B4-BE49-F238E27FC236}">
                <a16:creationId xmlns:a16="http://schemas.microsoft.com/office/drawing/2014/main" id="{D8942F47-1064-EC3E-27CA-0E3A44C2DE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4F77B-D24B-33DC-4028-A903CBE57A74}"/>
              </a:ext>
            </a:extLst>
          </p:cNvPr>
          <p:cNvSpPr>
            <a:spLocks noGrp="1"/>
          </p:cNvSpPr>
          <p:nvPr>
            <p:ph type="sldNum" sz="quarter" idx="12"/>
          </p:nvPr>
        </p:nvSpPr>
        <p:spPr/>
        <p:txBody>
          <a:bodyPr/>
          <a:lstStyle/>
          <a:p>
            <a:fld id="{FD2D7370-D8CC-9E4F-9E18-73B20DF1982A}" type="slidenum">
              <a:rPr lang="en-US" smtClean="0"/>
              <a:t>‹#›</a:t>
            </a:fld>
            <a:endParaRPr lang="en-US"/>
          </a:p>
        </p:txBody>
      </p:sp>
    </p:spTree>
    <p:extLst>
      <p:ext uri="{BB962C8B-B14F-4D97-AF65-F5344CB8AC3E}">
        <p14:creationId xmlns:p14="http://schemas.microsoft.com/office/powerpoint/2010/main" val="868474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DF40C8-DCB1-5113-5C62-8DD4E0A27BE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054F06-74BF-6A4F-3117-9D41F56D86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24EEAF-7267-748B-C4A1-203DB799E600}"/>
              </a:ext>
            </a:extLst>
          </p:cNvPr>
          <p:cNvSpPr>
            <a:spLocks noGrp="1"/>
          </p:cNvSpPr>
          <p:nvPr>
            <p:ph type="dt" sz="half" idx="10"/>
          </p:nvPr>
        </p:nvSpPr>
        <p:spPr/>
        <p:txBody>
          <a:bodyPr/>
          <a:lstStyle/>
          <a:p>
            <a:fld id="{6D02DF5F-A450-5848-84F0-2042708D6991}" type="datetimeFigureOut">
              <a:rPr lang="en-US" smtClean="0"/>
              <a:t>8/29/25</a:t>
            </a:fld>
            <a:endParaRPr lang="en-US"/>
          </a:p>
        </p:txBody>
      </p:sp>
      <p:sp>
        <p:nvSpPr>
          <p:cNvPr id="5" name="Footer Placeholder 4">
            <a:extLst>
              <a:ext uri="{FF2B5EF4-FFF2-40B4-BE49-F238E27FC236}">
                <a16:creationId xmlns:a16="http://schemas.microsoft.com/office/drawing/2014/main" id="{122D22AF-C1F5-F641-35F6-B3FAAF15C8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51198D-8FE3-91FC-4CFB-821B65A9B34F}"/>
              </a:ext>
            </a:extLst>
          </p:cNvPr>
          <p:cNvSpPr>
            <a:spLocks noGrp="1"/>
          </p:cNvSpPr>
          <p:nvPr>
            <p:ph type="sldNum" sz="quarter" idx="12"/>
          </p:nvPr>
        </p:nvSpPr>
        <p:spPr/>
        <p:txBody>
          <a:bodyPr/>
          <a:lstStyle/>
          <a:p>
            <a:fld id="{FD2D7370-D8CC-9E4F-9E18-73B20DF1982A}" type="slidenum">
              <a:rPr lang="en-US" smtClean="0"/>
              <a:t>‹#›</a:t>
            </a:fld>
            <a:endParaRPr lang="en-US"/>
          </a:p>
        </p:txBody>
      </p:sp>
    </p:spTree>
    <p:extLst>
      <p:ext uri="{BB962C8B-B14F-4D97-AF65-F5344CB8AC3E}">
        <p14:creationId xmlns:p14="http://schemas.microsoft.com/office/powerpoint/2010/main" val="3966146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0E8D45-1879-5377-5FFA-8D5771FA6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5A1EE2-459C-77F0-2BD3-F550A6933C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E73807-CC82-0391-0093-C1C3E5F010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02DF5F-A450-5848-84F0-2042708D6991}" type="datetimeFigureOut">
              <a:rPr lang="en-US" smtClean="0"/>
              <a:t>8/29/25</a:t>
            </a:fld>
            <a:endParaRPr lang="en-US"/>
          </a:p>
        </p:txBody>
      </p:sp>
      <p:sp>
        <p:nvSpPr>
          <p:cNvPr id="5" name="Footer Placeholder 4">
            <a:extLst>
              <a:ext uri="{FF2B5EF4-FFF2-40B4-BE49-F238E27FC236}">
                <a16:creationId xmlns:a16="http://schemas.microsoft.com/office/drawing/2014/main" id="{6167FFE2-97D4-AE41-C28C-FBC338ACCE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B2B3DFA-50FE-A89A-32AB-F54FA468C4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2D7370-D8CC-9E4F-9E18-73B20DF1982A}" type="slidenum">
              <a:rPr lang="en-US" smtClean="0"/>
              <a:t>‹#›</a:t>
            </a:fld>
            <a:endParaRPr lang="en-US"/>
          </a:p>
        </p:txBody>
      </p:sp>
    </p:spTree>
    <p:extLst>
      <p:ext uri="{BB962C8B-B14F-4D97-AF65-F5344CB8AC3E}">
        <p14:creationId xmlns:p14="http://schemas.microsoft.com/office/powerpoint/2010/main" val="2273141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D34FD-A66E-9CBF-B8B2-46F1B411E77A}"/>
              </a:ext>
            </a:extLst>
          </p:cNvPr>
          <p:cNvSpPr>
            <a:spLocks noGrp="1"/>
          </p:cNvSpPr>
          <p:nvPr>
            <p:ph type="ctrTitle"/>
          </p:nvPr>
        </p:nvSpPr>
        <p:spPr/>
        <p:txBody>
          <a:bodyPr>
            <a:noAutofit/>
          </a:bodyPr>
          <a:lstStyle/>
          <a:p>
            <a:r>
              <a:rPr lang="en-US" sz="4000" dirty="0"/>
              <a:t>The Stability of Meaning in Language Models: Assessing Contextual Influence in Causal LMs’ Gendered Pronoun Selection</a:t>
            </a:r>
          </a:p>
        </p:txBody>
      </p:sp>
      <p:sp>
        <p:nvSpPr>
          <p:cNvPr id="3" name="Subtitle 2">
            <a:extLst>
              <a:ext uri="{FF2B5EF4-FFF2-40B4-BE49-F238E27FC236}">
                <a16:creationId xmlns:a16="http://schemas.microsoft.com/office/drawing/2014/main" id="{7EF2141D-0BCC-C3C0-A0F2-6653B0056F77}"/>
              </a:ext>
            </a:extLst>
          </p:cNvPr>
          <p:cNvSpPr>
            <a:spLocks noGrp="1"/>
          </p:cNvSpPr>
          <p:nvPr>
            <p:ph type="subTitle" idx="1"/>
          </p:nvPr>
        </p:nvSpPr>
        <p:spPr/>
        <p:txBody>
          <a:bodyPr/>
          <a:lstStyle/>
          <a:p>
            <a:r>
              <a:rPr lang="en-US" dirty="0"/>
              <a:t>Sagar Kumar</a:t>
            </a:r>
          </a:p>
        </p:txBody>
      </p:sp>
      <p:sp>
        <p:nvSpPr>
          <p:cNvPr id="4" name="TextBox 3">
            <a:extLst>
              <a:ext uri="{FF2B5EF4-FFF2-40B4-BE49-F238E27FC236}">
                <a16:creationId xmlns:a16="http://schemas.microsoft.com/office/drawing/2014/main" id="{5232EDD1-0B8E-3BC1-A9A3-E22D2646FAE1}"/>
              </a:ext>
            </a:extLst>
          </p:cNvPr>
          <p:cNvSpPr txBox="1"/>
          <p:nvPr/>
        </p:nvSpPr>
        <p:spPr>
          <a:xfrm>
            <a:off x="1495425" y="4611469"/>
            <a:ext cx="9201150" cy="1200329"/>
          </a:xfrm>
          <a:prstGeom prst="rect">
            <a:avLst/>
          </a:prstGeom>
          <a:noFill/>
        </p:spPr>
        <p:txBody>
          <a:bodyPr wrap="square" rtlCol="0">
            <a:spAutoFit/>
          </a:bodyPr>
          <a:lstStyle/>
          <a:p>
            <a:r>
              <a:rPr lang="en-US" sz="2400" dirty="0"/>
              <a:t>Alt (more clickbait) Title: </a:t>
            </a:r>
          </a:p>
          <a:p>
            <a:pPr algn="ctr"/>
            <a:r>
              <a:rPr lang="en-US" sz="2400" i="1" dirty="0"/>
              <a:t>Deconstructing AI: Measuring the Stability of Meaning in LLMs via Gendered Pronoun Selection</a:t>
            </a:r>
          </a:p>
        </p:txBody>
      </p:sp>
    </p:spTree>
    <p:extLst>
      <p:ext uri="{BB962C8B-B14F-4D97-AF65-F5344CB8AC3E}">
        <p14:creationId xmlns:p14="http://schemas.microsoft.com/office/powerpoint/2010/main" val="3965712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94B79-7DF5-CC20-054B-729A4D22EF69}"/>
              </a:ext>
            </a:extLst>
          </p:cNvPr>
          <p:cNvSpPr>
            <a:spLocks noGrp="1"/>
          </p:cNvSpPr>
          <p:nvPr>
            <p:ph type="title"/>
          </p:nvPr>
        </p:nvSpPr>
        <p:spPr/>
        <p:txBody>
          <a:bodyPr/>
          <a:lstStyle/>
          <a:p>
            <a:r>
              <a:rPr lang="en-US" dirty="0"/>
              <a:t>Paper Outline</a:t>
            </a:r>
          </a:p>
        </p:txBody>
      </p:sp>
      <p:sp>
        <p:nvSpPr>
          <p:cNvPr id="3" name="Content Placeholder 2">
            <a:extLst>
              <a:ext uri="{FF2B5EF4-FFF2-40B4-BE49-F238E27FC236}">
                <a16:creationId xmlns:a16="http://schemas.microsoft.com/office/drawing/2014/main" id="{748DF86C-3D2D-9E40-0FAF-86FABD1599FD}"/>
              </a:ext>
            </a:extLst>
          </p:cNvPr>
          <p:cNvSpPr>
            <a:spLocks noGrp="1"/>
          </p:cNvSpPr>
          <p:nvPr>
            <p:ph idx="1"/>
          </p:nvPr>
        </p:nvSpPr>
        <p:spPr/>
        <p:txBody>
          <a:bodyPr>
            <a:normAutofit fontScale="47500" lnSpcReduction="20000"/>
          </a:bodyPr>
          <a:lstStyle/>
          <a:p>
            <a:r>
              <a:rPr lang="en-US" dirty="0"/>
              <a:t>Introduction</a:t>
            </a:r>
          </a:p>
          <a:p>
            <a:pPr lvl="1"/>
            <a:r>
              <a:rPr lang="en-US" dirty="0"/>
              <a:t>Existing work on gender in language models</a:t>
            </a:r>
          </a:p>
          <a:p>
            <a:pPr lvl="1"/>
            <a:r>
              <a:rPr lang="en-US" dirty="0"/>
              <a:t>Lit review on ordering, priming, and framing effects in LLMs suggests results may be highly unstable</a:t>
            </a:r>
          </a:p>
          <a:p>
            <a:pPr lvl="1"/>
            <a:r>
              <a:rPr lang="en-US" dirty="0"/>
              <a:t>Most of these only look at the generation, we want to see both to see whether the effects exist ”in the model” or emerge through the stochasticity of generation</a:t>
            </a:r>
          </a:p>
          <a:p>
            <a:pPr lvl="1"/>
            <a:r>
              <a:rPr lang="en-US" dirty="0"/>
              <a:t>Motivate contextuality as thing in Cog Sci used when such effects appear, as a way to discern whether it is truly single construct being measured, or if that construct is irreducibly coupled to context</a:t>
            </a:r>
          </a:p>
          <a:p>
            <a:pPr lvl="2"/>
            <a:r>
              <a:rPr lang="en-US" dirty="0"/>
              <a:t>In LLMs, we translate this to whether the meaning of a lexeme is “stable” </a:t>
            </a:r>
          </a:p>
          <a:p>
            <a:r>
              <a:rPr lang="en-US" dirty="0"/>
              <a:t>Methods </a:t>
            </a:r>
          </a:p>
          <a:p>
            <a:pPr lvl="1"/>
            <a:r>
              <a:rPr lang="en-US" dirty="0"/>
              <a:t>Dataset</a:t>
            </a:r>
          </a:p>
          <a:p>
            <a:pPr lvl="1"/>
            <a:r>
              <a:rPr lang="en-US" dirty="0"/>
              <a:t>Masked Language modeling in Causal LMs</a:t>
            </a:r>
          </a:p>
          <a:p>
            <a:pPr lvl="1"/>
            <a:r>
              <a:rPr lang="en-US" dirty="0"/>
              <a:t>Prompting, </a:t>
            </a:r>
            <a:r>
              <a:rPr lang="en-US" dirty="0" err="1"/>
              <a:t>Metaprompting</a:t>
            </a:r>
            <a:r>
              <a:rPr lang="en-US" dirty="0"/>
              <a:t>, and probability extraction</a:t>
            </a:r>
          </a:p>
          <a:p>
            <a:pPr lvl="1"/>
            <a:r>
              <a:rPr lang="en-US" dirty="0"/>
              <a:t>Calculating distances </a:t>
            </a:r>
          </a:p>
          <a:p>
            <a:pPr lvl="1"/>
            <a:r>
              <a:rPr lang="en-US" dirty="0"/>
              <a:t>Calculating contextuality-by-default</a:t>
            </a:r>
          </a:p>
          <a:p>
            <a:r>
              <a:rPr lang="en-US" dirty="0"/>
              <a:t>Results</a:t>
            </a:r>
          </a:p>
          <a:p>
            <a:pPr lvl="1"/>
            <a:r>
              <a:rPr lang="en-US" dirty="0"/>
              <a:t>Difference between belief and generation</a:t>
            </a:r>
          </a:p>
          <a:p>
            <a:pPr lvl="1"/>
            <a:r>
              <a:rPr lang="en-US" dirty="0"/>
              <a:t>Difference between orders</a:t>
            </a:r>
          </a:p>
          <a:p>
            <a:pPr lvl="1"/>
            <a:r>
              <a:rPr lang="en-US" dirty="0"/>
              <a:t>Difference when priming</a:t>
            </a:r>
          </a:p>
          <a:p>
            <a:pPr lvl="1"/>
            <a:r>
              <a:rPr lang="en-US" dirty="0"/>
              <a:t>Difference with framing / does framing help?</a:t>
            </a:r>
          </a:p>
          <a:p>
            <a:pPr lvl="1"/>
            <a:r>
              <a:rPr lang="en-US" dirty="0"/>
              <a:t>Contextuality</a:t>
            </a:r>
          </a:p>
          <a:p>
            <a:r>
              <a:rPr lang="en-US" dirty="0"/>
              <a:t>Discussion and Conclusion</a:t>
            </a:r>
          </a:p>
        </p:txBody>
      </p:sp>
    </p:spTree>
    <p:extLst>
      <p:ext uri="{BB962C8B-B14F-4D97-AF65-F5344CB8AC3E}">
        <p14:creationId xmlns:p14="http://schemas.microsoft.com/office/powerpoint/2010/main" val="2891815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7D7F1-E9A2-7C2B-9C18-EEC842B10979}"/>
              </a:ext>
            </a:extLst>
          </p:cNvPr>
          <p:cNvSpPr>
            <a:spLocks noGrp="1"/>
          </p:cNvSpPr>
          <p:nvPr>
            <p:ph type="title"/>
          </p:nvPr>
        </p:nvSpPr>
        <p:spPr/>
        <p:txBody>
          <a:bodyPr/>
          <a:lstStyle/>
          <a:p>
            <a:r>
              <a:rPr lang="en-US" dirty="0"/>
              <a:t>Open Questions</a:t>
            </a:r>
          </a:p>
        </p:txBody>
      </p:sp>
      <p:sp>
        <p:nvSpPr>
          <p:cNvPr id="3" name="Content Placeholder 2">
            <a:extLst>
              <a:ext uri="{FF2B5EF4-FFF2-40B4-BE49-F238E27FC236}">
                <a16:creationId xmlns:a16="http://schemas.microsoft.com/office/drawing/2014/main" id="{36AB6B8A-C67C-4C91-D37F-5AEE31685C3C}"/>
              </a:ext>
            </a:extLst>
          </p:cNvPr>
          <p:cNvSpPr>
            <a:spLocks noGrp="1"/>
          </p:cNvSpPr>
          <p:nvPr>
            <p:ph idx="1"/>
          </p:nvPr>
        </p:nvSpPr>
        <p:spPr/>
        <p:txBody>
          <a:bodyPr>
            <a:normAutofit fontScale="77500" lnSpcReduction="20000"/>
          </a:bodyPr>
          <a:lstStyle/>
          <a:p>
            <a:r>
              <a:rPr lang="en-US" dirty="0"/>
              <a:t>Is the use of contextuality sufficiently motivated and are its ramifications clear?</a:t>
            </a:r>
          </a:p>
          <a:p>
            <a:r>
              <a:rPr lang="en-US" dirty="0"/>
              <a:t>What should be done about the fact that only two gendered pronouns are being used? (there is currently a justification I have outlined)</a:t>
            </a:r>
          </a:p>
          <a:p>
            <a:r>
              <a:rPr lang="en-US" dirty="0"/>
              <a:t>How strongly do we feel about the framing effects because that would effectively double the number of runs (and time/resources)?</a:t>
            </a:r>
          </a:p>
          <a:p>
            <a:r>
              <a:rPr lang="en-US" dirty="0"/>
              <a:t>Is it necessary to compare the individual sentences against biases/norms? (i.e. “she” in reference to a CEO is good vs. “she” in reference to some misogynistic occupation)</a:t>
            </a:r>
          </a:p>
          <a:p>
            <a:pPr lvl="1"/>
            <a:r>
              <a:rPr lang="en-US" dirty="0"/>
              <a:t>Clearly important, but it seems that story here is more about the massive variability</a:t>
            </a:r>
          </a:p>
          <a:p>
            <a:r>
              <a:rPr lang="en-US" b="1" dirty="0"/>
              <a:t>How can the results for several models be clearly and concisely presented?</a:t>
            </a:r>
          </a:p>
          <a:p>
            <a:r>
              <a:rPr lang="en-US" dirty="0"/>
              <a:t>Does anything feel unnecessary?</a:t>
            </a:r>
          </a:p>
          <a:p>
            <a:r>
              <a:rPr lang="en-US" dirty="0"/>
              <a:t>Does anything feel missing?</a:t>
            </a:r>
          </a:p>
        </p:txBody>
      </p:sp>
    </p:spTree>
    <p:extLst>
      <p:ext uri="{BB962C8B-B14F-4D97-AF65-F5344CB8AC3E}">
        <p14:creationId xmlns:p14="http://schemas.microsoft.com/office/powerpoint/2010/main" val="2551255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9CCC2-1BDE-3A16-561A-1FF7C84194B5}"/>
              </a:ext>
            </a:extLst>
          </p:cNvPr>
          <p:cNvSpPr>
            <a:spLocks noGrp="1"/>
          </p:cNvSpPr>
          <p:nvPr>
            <p:ph type="title"/>
          </p:nvPr>
        </p:nvSpPr>
        <p:spPr/>
        <p:txBody>
          <a:bodyPr/>
          <a:lstStyle/>
          <a:p>
            <a:r>
              <a:rPr lang="en-US" dirty="0"/>
              <a:t>Basics about Language Models</a:t>
            </a:r>
          </a:p>
        </p:txBody>
      </p:sp>
      <p:sp>
        <p:nvSpPr>
          <p:cNvPr id="3" name="Content Placeholder 2">
            <a:extLst>
              <a:ext uri="{FF2B5EF4-FFF2-40B4-BE49-F238E27FC236}">
                <a16:creationId xmlns:a16="http://schemas.microsoft.com/office/drawing/2014/main" id="{2734F932-1A84-137B-216B-C34C778F3C24}"/>
              </a:ext>
            </a:extLst>
          </p:cNvPr>
          <p:cNvSpPr>
            <a:spLocks noGrp="1"/>
          </p:cNvSpPr>
          <p:nvPr>
            <p:ph idx="1"/>
          </p:nvPr>
        </p:nvSpPr>
        <p:spPr/>
        <p:txBody>
          <a:bodyPr/>
          <a:lstStyle/>
          <a:p>
            <a:pPr marL="0" indent="0">
              <a:buNone/>
            </a:pPr>
            <a:r>
              <a:rPr lang="en-US" dirty="0"/>
              <a:t>Modern language models are </a:t>
            </a:r>
            <a:r>
              <a:rPr lang="en-US" i="1" dirty="0"/>
              <a:t>causal. </a:t>
            </a:r>
            <a:r>
              <a:rPr lang="en-US" dirty="0"/>
              <a:t>This means that, unlike BERT of the past, these models only look in one direction—forward. </a:t>
            </a:r>
          </a:p>
          <a:p>
            <a:pPr marL="0" indent="0">
              <a:buNone/>
            </a:pPr>
            <a:endParaRPr lang="en-US" dirty="0"/>
          </a:p>
          <a:p>
            <a:pPr marL="0" indent="0">
              <a:buNone/>
            </a:pPr>
            <a:r>
              <a:rPr lang="en-US" dirty="0"/>
              <a:t>The model has an internal state, predicting the value of the next token, conditioned on all the past tokens.</a:t>
            </a:r>
          </a:p>
          <a:p>
            <a:pPr marL="0" indent="0">
              <a:buNone/>
            </a:pPr>
            <a:endParaRPr lang="en-US" dirty="0"/>
          </a:p>
          <a:p>
            <a:pPr marL="0" indent="0">
              <a:buNone/>
            </a:pPr>
            <a:r>
              <a:rPr lang="en-US" dirty="0"/>
              <a:t>It also has a generation head, which adds stochasticity to the internal state and generates the next token based on the past tokens it has generated, acting sort of like a state-space machine. </a:t>
            </a:r>
          </a:p>
        </p:txBody>
      </p:sp>
    </p:spTree>
    <p:extLst>
      <p:ext uri="{BB962C8B-B14F-4D97-AF65-F5344CB8AC3E}">
        <p14:creationId xmlns:p14="http://schemas.microsoft.com/office/powerpoint/2010/main" val="3780737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0C9055-0486-274C-F7F6-5276FB2B93B0}"/>
              </a:ext>
            </a:extLst>
          </p:cNvPr>
          <p:cNvSpPr>
            <a:spLocks noGrp="1"/>
          </p:cNvSpPr>
          <p:nvPr>
            <p:ph type="title"/>
          </p:nvPr>
        </p:nvSpPr>
        <p:spPr/>
        <p:txBody>
          <a:bodyPr/>
          <a:lstStyle/>
          <a:p>
            <a:r>
              <a:rPr lang="en-US" dirty="0"/>
              <a:t>Basics About Linguistic Meaning</a:t>
            </a:r>
          </a:p>
        </p:txBody>
      </p:sp>
      <p:sp>
        <p:nvSpPr>
          <p:cNvPr id="6" name="Content Placeholder 5">
            <a:extLst>
              <a:ext uri="{FF2B5EF4-FFF2-40B4-BE49-F238E27FC236}">
                <a16:creationId xmlns:a16="http://schemas.microsoft.com/office/drawing/2014/main" id="{BEECA330-AAD3-211F-8561-13D0C51105DB}"/>
              </a:ext>
            </a:extLst>
          </p:cNvPr>
          <p:cNvSpPr>
            <a:spLocks noGrp="1"/>
          </p:cNvSpPr>
          <p:nvPr>
            <p:ph idx="1"/>
          </p:nvPr>
        </p:nvSpPr>
        <p:spPr/>
        <p:txBody>
          <a:bodyPr>
            <a:normAutofit fontScale="77500" lnSpcReduction="20000"/>
          </a:bodyPr>
          <a:lstStyle/>
          <a:p>
            <a:r>
              <a:rPr lang="en-US" dirty="0"/>
              <a:t>The meaning of an utterance is ascertained by its </a:t>
            </a:r>
            <a:r>
              <a:rPr lang="en-US" i="1" dirty="0"/>
              <a:t>semantics</a:t>
            </a:r>
          </a:p>
          <a:p>
            <a:pPr lvl="1"/>
            <a:r>
              <a:rPr lang="en-US" dirty="0"/>
              <a:t>Classically, this has been on the basis of  a sentence’s truth-conditions</a:t>
            </a:r>
          </a:p>
          <a:p>
            <a:pPr lvl="1"/>
            <a:r>
              <a:rPr lang="en-US" dirty="0"/>
              <a:t>In language models, it is on the basis of a sentence’s place in statistical distributions</a:t>
            </a:r>
          </a:p>
          <a:p>
            <a:r>
              <a:rPr lang="en-US" dirty="0"/>
              <a:t>Pragmatic effects (such as inflect, intonation, framing) can lead two semantically equivalent sentences to have completely different meanings</a:t>
            </a:r>
          </a:p>
          <a:p>
            <a:pPr lvl="1"/>
            <a:r>
              <a:rPr lang="en-US" dirty="0"/>
              <a:t>e.g.</a:t>
            </a:r>
          </a:p>
          <a:p>
            <a:pPr lvl="2"/>
            <a:r>
              <a:rPr lang="en-US" sz="1500" i="1" dirty="0">
                <a:latin typeface="Franklin Gothic Book" panose="020B0503020102020204" pitchFamily="34" charset="0"/>
              </a:rPr>
              <a:t>I</a:t>
            </a:r>
            <a:r>
              <a:rPr lang="en-US" sz="1500" dirty="0">
                <a:latin typeface="Franklin Gothic Book" panose="020B0503020102020204" pitchFamily="34" charset="0"/>
              </a:rPr>
              <a:t> didn’t say she stole the money → Someone else said it.</a:t>
            </a:r>
          </a:p>
          <a:p>
            <a:pPr lvl="2"/>
            <a:r>
              <a:rPr lang="en-US" sz="1500" dirty="0">
                <a:latin typeface="Franklin Gothic Book" panose="020B0503020102020204" pitchFamily="34" charset="0"/>
              </a:rPr>
              <a:t>I </a:t>
            </a:r>
            <a:r>
              <a:rPr lang="en-US" sz="1500" i="1" dirty="0">
                <a:latin typeface="Franklin Gothic Book" panose="020B0503020102020204" pitchFamily="34" charset="0"/>
              </a:rPr>
              <a:t>didn’t</a:t>
            </a:r>
            <a:r>
              <a:rPr lang="en-US" sz="1500" dirty="0">
                <a:latin typeface="Franklin Gothic Book" panose="020B0503020102020204" pitchFamily="34" charset="0"/>
              </a:rPr>
              <a:t> say she stole the money → Denial of having said it.</a:t>
            </a:r>
          </a:p>
          <a:p>
            <a:pPr lvl="2"/>
            <a:r>
              <a:rPr lang="en-US" sz="1500" dirty="0">
                <a:latin typeface="Franklin Gothic Book" panose="020B0503020102020204" pitchFamily="34" charset="0"/>
              </a:rPr>
              <a:t>I didn’t </a:t>
            </a:r>
            <a:r>
              <a:rPr lang="en-US" sz="1500" i="1" dirty="0">
                <a:latin typeface="Franklin Gothic Book" panose="020B0503020102020204" pitchFamily="34" charset="0"/>
              </a:rPr>
              <a:t>say</a:t>
            </a:r>
            <a:r>
              <a:rPr lang="en-US" sz="1500" dirty="0">
                <a:latin typeface="Franklin Gothic Book" panose="020B0503020102020204" pitchFamily="34" charset="0"/>
              </a:rPr>
              <a:t> she stole the money → Maybe implied it, but didn’t state it.</a:t>
            </a:r>
          </a:p>
          <a:p>
            <a:pPr lvl="2"/>
            <a:r>
              <a:rPr lang="en-US" sz="1500" dirty="0">
                <a:latin typeface="Franklin Gothic Book" panose="020B0503020102020204" pitchFamily="34" charset="0"/>
              </a:rPr>
              <a:t>I didn’t say </a:t>
            </a:r>
            <a:r>
              <a:rPr lang="en-US" sz="1500" i="1" dirty="0">
                <a:latin typeface="Franklin Gothic Book" panose="020B0503020102020204" pitchFamily="34" charset="0"/>
              </a:rPr>
              <a:t>she</a:t>
            </a:r>
            <a:r>
              <a:rPr lang="en-US" sz="1500" dirty="0">
                <a:latin typeface="Franklin Gothic Book" panose="020B0503020102020204" pitchFamily="34" charset="0"/>
              </a:rPr>
              <a:t> stole the money → Someone else might have stolen it.</a:t>
            </a:r>
          </a:p>
          <a:p>
            <a:pPr lvl="2"/>
            <a:r>
              <a:rPr lang="en-US" sz="1500" dirty="0">
                <a:latin typeface="Franklin Gothic Book" panose="020B0503020102020204" pitchFamily="34" charset="0"/>
              </a:rPr>
              <a:t>I didn’t say she </a:t>
            </a:r>
            <a:r>
              <a:rPr lang="en-US" sz="1500" i="1" dirty="0">
                <a:latin typeface="Franklin Gothic Book" panose="020B0503020102020204" pitchFamily="34" charset="0"/>
              </a:rPr>
              <a:t>stole</a:t>
            </a:r>
            <a:r>
              <a:rPr lang="en-US" sz="1500" dirty="0">
                <a:latin typeface="Franklin Gothic Book" panose="020B0503020102020204" pitchFamily="34" charset="0"/>
              </a:rPr>
              <a:t> the money → She might have borrowed it.</a:t>
            </a:r>
          </a:p>
          <a:p>
            <a:pPr lvl="2"/>
            <a:r>
              <a:rPr lang="en-US" sz="1500" dirty="0">
                <a:latin typeface="Franklin Gothic Book" panose="020B0503020102020204" pitchFamily="34" charset="0"/>
              </a:rPr>
              <a:t>I didn’t say she stole the </a:t>
            </a:r>
            <a:r>
              <a:rPr lang="en-US" sz="1500" i="1" dirty="0">
                <a:latin typeface="Franklin Gothic Book" panose="020B0503020102020204" pitchFamily="34" charset="0"/>
              </a:rPr>
              <a:t>money</a:t>
            </a:r>
            <a:r>
              <a:rPr lang="en-US" sz="1500" dirty="0">
                <a:latin typeface="Franklin Gothic Book" panose="020B0503020102020204" pitchFamily="34" charset="0"/>
              </a:rPr>
              <a:t> → She stole something else.</a:t>
            </a:r>
          </a:p>
          <a:p>
            <a:r>
              <a:rPr lang="en-US" dirty="0"/>
              <a:t>The goal of this work is to study how structural, contextual, and interactional features of language presentation modulate meaning beyond literal semantics </a:t>
            </a:r>
          </a:p>
          <a:p>
            <a:pPr lvl="1"/>
            <a:r>
              <a:rPr lang="en-US" dirty="0"/>
              <a:t>As an area which has historically shown to be concerning in these model, we test these </a:t>
            </a:r>
            <a:r>
              <a:rPr lang="en-US" dirty="0" err="1"/>
              <a:t>w.r.t</a:t>
            </a:r>
            <a:r>
              <a:rPr lang="en-US" dirty="0"/>
              <a:t> meanings built around gender in the model to see if new supposed “improvements” are robust to these modulations of meaning</a:t>
            </a:r>
          </a:p>
          <a:p>
            <a:pPr lvl="1"/>
            <a:endParaRPr lang="en-US" dirty="0"/>
          </a:p>
        </p:txBody>
      </p:sp>
    </p:spTree>
    <p:extLst>
      <p:ext uri="{BB962C8B-B14F-4D97-AF65-F5344CB8AC3E}">
        <p14:creationId xmlns:p14="http://schemas.microsoft.com/office/powerpoint/2010/main" val="3055137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70F48CE-207F-A7EF-BF89-397FC4D53A97}"/>
              </a:ext>
            </a:extLst>
          </p:cNvPr>
          <p:cNvSpPr>
            <a:spLocks noGrp="1"/>
          </p:cNvSpPr>
          <p:nvPr>
            <p:ph type="title"/>
          </p:nvPr>
        </p:nvSpPr>
        <p:spPr/>
        <p:txBody>
          <a:bodyPr/>
          <a:lstStyle/>
          <a:p>
            <a:r>
              <a:rPr lang="en-US" dirty="0"/>
              <a:t>Llama 3.2 1B Results</a:t>
            </a:r>
          </a:p>
        </p:txBody>
      </p:sp>
      <p:sp>
        <p:nvSpPr>
          <p:cNvPr id="8" name="Text Placeholder 7">
            <a:extLst>
              <a:ext uri="{FF2B5EF4-FFF2-40B4-BE49-F238E27FC236}">
                <a16:creationId xmlns:a16="http://schemas.microsoft.com/office/drawing/2014/main" id="{6489BB77-D119-3938-51E8-BD9224D8901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72118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E65B6-F721-7BC6-4396-2A0315DB37DD}"/>
              </a:ext>
            </a:extLst>
          </p:cNvPr>
          <p:cNvSpPr>
            <a:spLocks noGrp="1"/>
          </p:cNvSpPr>
          <p:nvPr>
            <p:ph type="title"/>
          </p:nvPr>
        </p:nvSpPr>
        <p:spPr/>
        <p:txBody>
          <a:bodyPr/>
          <a:lstStyle/>
          <a:p>
            <a:r>
              <a:rPr lang="en-US" dirty="0"/>
              <a:t>Belief vs. Generation</a:t>
            </a:r>
          </a:p>
        </p:txBody>
      </p:sp>
      <p:pic>
        <p:nvPicPr>
          <p:cNvPr id="9" name="Content Placeholder 8">
            <a:extLst>
              <a:ext uri="{FF2B5EF4-FFF2-40B4-BE49-F238E27FC236}">
                <a16:creationId xmlns:a16="http://schemas.microsoft.com/office/drawing/2014/main" id="{95C1E744-363C-33FF-DB3A-9D1BA028FCA0}"/>
              </a:ext>
            </a:extLst>
          </p:cNvPr>
          <p:cNvPicPr>
            <a:picLocks noGrp="1" noChangeAspect="1"/>
          </p:cNvPicPr>
          <p:nvPr>
            <p:ph idx="1"/>
          </p:nvPr>
        </p:nvPicPr>
        <p:blipFill>
          <a:blip r:embed="rId2"/>
          <a:stretch>
            <a:fillRect/>
          </a:stretch>
        </p:blipFill>
        <p:spPr>
          <a:xfrm>
            <a:off x="2547242" y="1825625"/>
            <a:ext cx="7097515" cy="4351338"/>
          </a:xfrm>
        </p:spPr>
      </p:pic>
      <p:sp>
        <p:nvSpPr>
          <p:cNvPr id="10" name="TextBox 9">
            <a:extLst>
              <a:ext uri="{FF2B5EF4-FFF2-40B4-BE49-F238E27FC236}">
                <a16:creationId xmlns:a16="http://schemas.microsoft.com/office/drawing/2014/main" id="{BF2EBB64-BE0B-AEEA-E459-07F83A79860F}"/>
              </a:ext>
            </a:extLst>
          </p:cNvPr>
          <p:cNvSpPr txBox="1"/>
          <p:nvPr/>
        </p:nvSpPr>
        <p:spPr>
          <a:xfrm>
            <a:off x="9326880" y="2537460"/>
            <a:ext cx="2411730" cy="1754326"/>
          </a:xfrm>
          <a:prstGeom prst="rect">
            <a:avLst/>
          </a:prstGeom>
          <a:noFill/>
        </p:spPr>
        <p:txBody>
          <a:bodyPr wrap="square" rtlCol="0">
            <a:spAutoFit/>
          </a:bodyPr>
          <a:lstStyle/>
          <a:p>
            <a:r>
              <a:rPr lang="en-US" dirty="0"/>
              <a:t>Model beliefs generally make female pronoun more probable than male.  Generation, however is all over the place. </a:t>
            </a:r>
          </a:p>
        </p:txBody>
      </p:sp>
    </p:spTree>
    <p:extLst>
      <p:ext uri="{BB962C8B-B14F-4D97-AF65-F5344CB8AC3E}">
        <p14:creationId xmlns:p14="http://schemas.microsoft.com/office/powerpoint/2010/main" val="1973348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02E57-5730-C2C4-6725-94B049111AF9}"/>
              </a:ext>
            </a:extLst>
          </p:cNvPr>
          <p:cNvSpPr>
            <a:spLocks noGrp="1"/>
          </p:cNvSpPr>
          <p:nvPr>
            <p:ph type="title"/>
          </p:nvPr>
        </p:nvSpPr>
        <p:spPr/>
        <p:txBody>
          <a:bodyPr/>
          <a:lstStyle/>
          <a:p>
            <a:r>
              <a:rPr lang="en-US" dirty="0"/>
              <a:t>Belief vs. Generation</a:t>
            </a:r>
          </a:p>
        </p:txBody>
      </p:sp>
      <p:pic>
        <p:nvPicPr>
          <p:cNvPr id="9" name="Content Placeholder 8">
            <a:extLst>
              <a:ext uri="{FF2B5EF4-FFF2-40B4-BE49-F238E27FC236}">
                <a16:creationId xmlns:a16="http://schemas.microsoft.com/office/drawing/2014/main" id="{247EB32F-C7F6-3F27-1B80-430B184AE821}"/>
              </a:ext>
            </a:extLst>
          </p:cNvPr>
          <p:cNvPicPr>
            <a:picLocks noGrp="1" noChangeAspect="1"/>
          </p:cNvPicPr>
          <p:nvPr>
            <p:ph idx="1"/>
          </p:nvPr>
        </p:nvPicPr>
        <p:blipFill>
          <a:blip r:embed="rId2"/>
          <a:stretch>
            <a:fillRect/>
          </a:stretch>
        </p:blipFill>
        <p:spPr>
          <a:xfrm>
            <a:off x="1269141" y="1690688"/>
            <a:ext cx="5607497" cy="4351338"/>
          </a:xfrm>
        </p:spPr>
      </p:pic>
      <p:sp>
        <p:nvSpPr>
          <p:cNvPr id="10" name="TextBox 9">
            <a:extLst>
              <a:ext uri="{FF2B5EF4-FFF2-40B4-BE49-F238E27FC236}">
                <a16:creationId xmlns:a16="http://schemas.microsoft.com/office/drawing/2014/main" id="{6F42162E-6734-D7B1-1D2D-0C85177CCB6A}"/>
              </a:ext>
            </a:extLst>
          </p:cNvPr>
          <p:cNvSpPr txBox="1"/>
          <p:nvPr/>
        </p:nvSpPr>
        <p:spPr>
          <a:xfrm>
            <a:off x="7275195" y="3717767"/>
            <a:ext cx="3901440" cy="1754326"/>
          </a:xfrm>
          <a:prstGeom prst="rect">
            <a:avLst/>
          </a:prstGeom>
          <a:noFill/>
        </p:spPr>
        <p:txBody>
          <a:bodyPr wrap="square" rtlCol="0">
            <a:spAutoFit/>
          </a:bodyPr>
          <a:lstStyle/>
          <a:p>
            <a:r>
              <a:rPr lang="en-US" dirty="0"/>
              <a:t>The peak on the left suggests that most items in the </a:t>
            </a:r>
            <a:r>
              <a:rPr lang="en-US" dirty="0" err="1"/>
              <a:t>Winogender</a:t>
            </a:r>
            <a:r>
              <a:rPr lang="en-US" dirty="0"/>
              <a:t> dataset stay consistent between the two, but there are some instances where are nearly maximally different at a temperature of only 0.5.  </a:t>
            </a:r>
          </a:p>
        </p:txBody>
      </p:sp>
      <p:sp>
        <p:nvSpPr>
          <p:cNvPr id="11" name="TextBox 10">
            <a:extLst>
              <a:ext uri="{FF2B5EF4-FFF2-40B4-BE49-F238E27FC236}">
                <a16:creationId xmlns:a16="http://schemas.microsoft.com/office/drawing/2014/main" id="{B9B31F4A-D669-C964-C891-2D138744B7A5}"/>
              </a:ext>
            </a:extLst>
          </p:cNvPr>
          <p:cNvSpPr txBox="1"/>
          <p:nvPr/>
        </p:nvSpPr>
        <p:spPr>
          <a:xfrm>
            <a:off x="7246620" y="2194560"/>
            <a:ext cx="3486150" cy="1200329"/>
          </a:xfrm>
          <a:prstGeom prst="rect">
            <a:avLst/>
          </a:prstGeom>
          <a:noFill/>
        </p:spPr>
        <p:txBody>
          <a:bodyPr wrap="square" rtlCol="0">
            <a:spAutoFit/>
          </a:bodyPr>
          <a:lstStyle/>
          <a:p>
            <a:r>
              <a:rPr lang="en-US" dirty="0"/>
              <a:t>This is the distribution of the L1-distance between the internal probabilities and the generated probabilities. </a:t>
            </a:r>
          </a:p>
        </p:txBody>
      </p:sp>
    </p:spTree>
    <p:extLst>
      <p:ext uri="{BB962C8B-B14F-4D97-AF65-F5344CB8AC3E}">
        <p14:creationId xmlns:p14="http://schemas.microsoft.com/office/powerpoint/2010/main" val="794976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8D62B-8825-6429-685F-CE444DECCB6E}"/>
              </a:ext>
            </a:extLst>
          </p:cNvPr>
          <p:cNvSpPr>
            <a:spLocks noGrp="1"/>
          </p:cNvSpPr>
          <p:nvPr>
            <p:ph type="title"/>
          </p:nvPr>
        </p:nvSpPr>
        <p:spPr/>
        <p:txBody>
          <a:bodyPr/>
          <a:lstStyle/>
          <a:p>
            <a:r>
              <a:rPr lang="en-US" dirty="0"/>
              <a:t>Ordering Effects</a:t>
            </a:r>
          </a:p>
        </p:txBody>
      </p:sp>
      <p:pic>
        <p:nvPicPr>
          <p:cNvPr id="17" name="Content Placeholder 16">
            <a:extLst>
              <a:ext uri="{FF2B5EF4-FFF2-40B4-BE49-F238E27FC236}">
                <a16:creationId xmlns:a16="http://schemas.microsoft.com/office/drawing/2014/main" id="{DF506636-5A41-A611-5A07-FFD997C54480}"/>
              </a:ext>
            </a:extLst>
          </p:cNvPr>
          <p:cNvPicPr>
            <a:picLocks noGrp="1" noChangeAspect="1"/>
          </p:cNvPicPr>
          <p:nvPr>
            <p:ph idx="1"/>
          </p:nvPr>
        </p:nvPicPr>
        <p:blipFill>
          <a:blip r:embed="rId2"/>
          <a:stretch>
            <a:fillRect/>
          </a:stretch>
        </p:blipFill>
        <p:spPr>
          <a:xfrm>
            <a:off x="1493520" y="1610678"/>
            <a:ext cx="4602480" cy="3440543"/>
          </a:xfrm>
        </p:spPr>
      </p:pic>
      <p:pic>
        <p:nvPicPr>
          <p:cNvPr id="18" name="Content Placeholder 14">
            <a:extLst>
              <a:ext uri="{FF2B5EF4-FFF2-40B4-BE49-F238E27FC236}">
                <a16:creationId xmlns:a16="http://schemas.microsoft.com/office/drawing/2014/main" id="{248290A8-E167-6C58-7BBB-27BCA32CCB93}"/>
              </a:ext>
            </a:extLst>
          </p:cNvPr>
          <p:cNvPicPr>
            <a:picLocks noChangeAspect="1"/>
          </p:cNvPicPr>
          <p:nvPr/>
        </p:nvPicPr>
        <p:blipFill>
          <a:blip r:embed="rId3"/>
          <a:stretch>
            <a:fillRect/>
          </a:stretch>
        </p:blipFill>
        <p:spPr>
          <a:xfrm>
            <a:off x="6231538" y="1495458"/>
            <a:ext cx="4602480" cy="3555763"/>
          </a:xfrm>
          <a:prstGeom prst="rect">
            <a:avLst/>
          </a:prstGeom>
        </p:spPr>
      </p:pic>
      <p:sp>
        <p:nvSpPr>
          <p:cNvPr id="19" name="TextBox 18">
            <a:extLst>
              <a:ext uri="{FF2B5EF4-FFF2-40B4-BE49-F238E27FC236}">
                <a16:creationId xmlns:a16="http://schemas.microsoft.com/office/drawing/2014/main" id="{EE83B707-A2E6-8F68-6964-6DB72BF59C54}"/>
              </a:ext>
            </a:extLst>
          </p:cNvPr>
          <p:cNvSpPr txBox="1"/>
          <p:nvPr/>
        </p:nvSpPr>
        <p:spPr>
          <a:xfrm>
            <a:off x="1977390" y="5463540"/>
            <a:ext cx="8606790" cy="646331"/>
          </a:xfrm>
          <a:prstGeom prst="rect">
            <a:avLst/>
          </a:prstGeom>
          <a:noFill/>
        </p:spPr>
        <p:txBody>
          <a:bodyPr wrap="square" rtlCol="0">
            <a:spAutoFit/>
          </a:bodyPr>
          <a:lstStyle/>
          <a:p>
            <a:r>
              <a:rPr lang="en-US" dirty="0"/>
              <a:t>In </a:t>
            </a:r>
            <a:r>
              <a:rPr lang="en-US" b="1" dirty="0"/>
              <a:t>both</a:t>
            </a:r>
            <a:r>
              <a:rPr lang="en-US" dirty="0"/>
              <a:t> the model beliefs and in generation, using the female pronoun </a:t>
            </a:r>
            <a:r>
              <a:rPr lang="en-US" b="1" dirty="0"/>
              <a:t>all but guarantees</a:t>
            </a:r>
            <a:r>
              <a:rPr lang="en-US" dirty="0"/>
              <a:t> the female pronoun will be chosen, </a:t>
            </a:r>
            <a:r>
              <a:rPr lang="en-US" i="1" dirty="0"/>
              <a:t>regardless of the utterance</a:t>
            </a:r>
            <a:r>
              <a:rPr lang="en-US" dirty="0"/>
              <a:t>. </a:t>
            </a:r>
          </a:p>
        </p:txBody>
      </p:sp>
    </p:spTree>
    <p:extLst>
      <p:ext uri="{BB962C8B-B14F-4D97-AF65-F5344CB8AC3E}">
        <p14:creationId xmlns:p14="http://schemas.microsoft.com/office/powerpoint/2010/main" val="2305453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EF26C-9E49-06F2-DEA9-424F0C937C8E}"/>
              </a:ext>
            </a:extLst>
          </p:cNvPr>
          <p:cNvSpPr>
            <a:spLocks noGrp="1"/>
          </p:cNvSpPr>
          <p:nvPr>
            <p:ph type="title"/>
          </p:nvPr>
        </p:nvSpPr>
        <p:spPr/>
        <p:txBody>
          <a:bodyPr/>
          <a:lstStyle/>
          <a:p>
            <a:r>
              <a:rPr lang="en-US" dirty="0"/>
              <a:t>Priming Effects</a:t>
            </a:r>
          </a:p>
        </p:txBody>
      </p:sp>
      <p:pic>
        <p:nvPicPr>
          <p:cNvPr id="11" name="Content Placeholder 10">
            <a:extLst>
              <a:ext uri="{FF2B5EF4-FFF2-40B4-BE49-F238E27FC236}">
                <a16:creationId xmlns:a16="http://schemas.microsoft.com/office/drawing/2014/main" id="{99361A49-5FF3-CC1B-F055-1D20133FAB3D}"/>
              </a:ext>
            </a:extLst>
          </p:cNvPr>
          <p:cNvPicPr>
            <a:picLocks noGrp="1" noChangeAspect="1"/>
          </p:cNvPicPr>
          <p:nvPr>
            <p:ph idx="1"/>
          </p:nvPr>
        </p:nvPicPr>
        <p:blipFill>
          <a:blip r:embed="rId2"/>
          <a:stretch>
            <a:fillRect/>
          </a:stretch>
        </p:blipFill>
        <p:spPr>
          <a:xfrm>
            <a:off x="838200" y="1690688"/>
            <a:ext cx="5936141" cy="4351338"/>
          </a:xfrm>
        </p:spPr>
      </p:pic>
      <p:sp>
        <p:nvSpPr>
          <p:cNvPr id="12" name="TextBox 11">
            <a:extLst>
              <a:ext uri="{FF2B5EF4-FFF2-40B4-BE49-F238E27FC236}">
                <a16:creationId xmlns:a16="http://schemas.microsoft.com/office/drawing/2014/main" id="{43A2334C-ABE8-1FB2-5D8F-2E12D46256F9}"/>
              </a:ext>
            </a:extLst>
          </p:cNvPr>
          <p:cNvSpPr txBox="1"/>
          <p:nvPr/>
        </p:nvSpPr>
        <p:spPr>
          <a:xfrm>
            <a:off x="7189470" y="4564698"/>
            <a:ext cx="4594860" cy="1200329"/>
          </a:xfrm>
          <a:prstGeom prst="rect">
            <a:avLst/>
          </a:prstGeom>
          <a:noFill/>
        </p:spPr>
        <p:txBody>
          <a:bodyPr wrap="square" rtlCol="0">
            <a:spAutoFit/>
          </a:bodyPr>
          <a:lstStyle/>
          <a:p>
            <a:r>
              <a:rPr lang="en-US" dirty="0"/>
              <a:t>The differences are increased when the priming sentence is filled with a female pronoun. This is especially pronounced for generation. </a:t>
            </a:r>
          </a:p>
        </p:txBody>
      </p:sp>
      <p:sp>
        <p:nvSpPr>
          <p:cNvPr id="13" name="TextBox 12">
            <a:extLst>
              <a:ext uri="{FF2B5EF4-FFF2-40B4-BE49-F238E27FC236}">
                <a16:creationId xmlns:a16="http://schemas.microsoft.com/office/drawing/2014/main" id="{8B0A28EB-DE29-71E5-1EB4-357D19D4ECD3}"/>
              </a:ext>
            </a:extLst>
          </p:cNvPr>
          <p:cNvSpPr txBox="1"/>
          <p:nvPr/>
        </p:nvSpPr>
        <p:spPr>
          <a:xfrm>
            <a:off x="7189470" y="1839546"/>
            <a:ext cx="4594860" cy="2585323"/>
          </a:xfrm>
          <a:prstGeom prst="rect">
            <a:avLst/>
          </a:prstGeom>
          <a:noFill/>
        </p:spPr>
        <p:txBody>
          <a:bodyPr wrap="square" rtlCol="0">
            <a:spAutoFit/>
          </a:bodyPr>
          <a:lstStyle/>
          <a:p>
            <a:r>
              <a:rPr lang="en-US" dirty="0"/>
              <a:t>In every instance in the dataset, there is are two characters. In this test, we provide a “priming” sentence which provides a gendered pronoun for the other character. Hypothetically, this should be irrelevant to the resolution of the pronoun requested. Here, we show the L1-distance between the primed (context) and un-primed (no context) prompts.  </a:t>
            </a:r>
          </a:p>
        </p:txBody>
      </p:sp>
    </p:spTree>
    <p:extLst>
      <p:ext uri="{BB962C8B-B14F-4D97-AF65-F5344CB8AC3E}">
        <p14:creationId xmlns:p14="http://schemas.microsoft.com/office/powerpoint/2010/main" val="1180875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180A-620D-37C4-ADF7-31D1804978CA}"/>
              </a:ext>
            </a:extLst>
          </p:cNvPr>
          <p:cNvSpPr>
            <a:spLocks noGrp="1"/>
          </p:cNvSpPr>
          <p:nvPr>
            <p:ph type="title"/>
          </p:nvPr>
        </p:nvSpPr>
        <p:spPr/>
        <p:txBody>
          <a:bodyPr/>
          <a:lstStyle/>
          <a:p>
            <a:r>
              <a:rPr lang="en-US" dirty="0"/>
              <a:t>Framing Effects</a:t>
            </a:r>
          </a:p>
        </p:txBody>
      </p:sp>
      <p:sp>
        <p:nvSpPr>
          <p:cNvPr id="3" name="Content Placeholder 2">
            <a:extLst>
              <a:ext uri="{FF2B5EF4-FFF2-40B4-BE49-F238E27FC236}">
                <a16:creationId xmlns:a16="http://schemas.microsoft.com/office/drawing/2014/main" id="{8B748A48-B948-61F0-FE5F-D2DD1A936305}"/>
              </a:ext>
            </a:extLst>
          </p:cNvPr>
          <p:cNvSpPr>
            <a:spLocks noGrp="1"/>
          </p:cNvSpPr>
          <p:nvPr>
            <p:ph idx="1"/>
          </p:nvPr>
        </p:nvSpPr>
        <p:spPr>
          <a:xfrm>
            <a:off x="838200" y="1825625"/>
            <a:ext cx="10515600" cy="883285"/>
          </a:xfrm>
        </p:spPr>
        <p:txBody>
          <a:bodyPr/>
          <a:lstStyle/>
          <a:p>
            <a:r>
              <a:rPr lang="en-US" dirty="0"/>
              <a:t>Naming game framing—very much follows the cooperative principles of Grice and Habermas</a:t>
            </a:r>
          </a:p>
          <a:p>
            <a:pPr marL="0" indent="0">
              <a:buNone/>
            </a:pPr>
            <a:endParaRPr lang="en-US" i="1" dirty="0"/>
          </a:p>
        </p:txBody>
      </p:sp>
      <p:sp>
        <p:nvSpPr>
          <p:cNvPr id="5" name="TextBox 4">
            <a:extLst>
              <a:ext uri="{FF2B5EF4-FFF2-40B4-BE49-F238E27FC236}">
                <a16:creationId xmlns:a16="http://schemas.microsoft.com/office/drawing/2014/main" id="{FFF3B8F9-4008-FAD9-B38E-30D03EF2C18B}"/>
              </a:ext>
            </a:extLst>
          </p:cNvPr>
          <p:cNvSpPr txBox="1"/>
          <p:nvPr/>
        </p:nvSpPr>
        <p:spPr>
          <a:xfrm>
            <a:off x="4457700" y="3779759"/>
            <a:ext cx="4469130" cy="369332"/>
          </a:xfrm>
          <a:prstGeom prst="rect">
            <a:avLst/>
          </a:prstGeom>
          <a:noFill/>
        </p:spPr>
        <p:txBody>
          <a:bodyPr wrap="square" rtlCol="0">
            <a:spAutoFit/>
          </a:bodyPr>
          <a:lstStyle/>
          <a:p>
            <a:r>
              <a:rPr lang="en-US" i="1" dirty="0"/>
              <a:t>Results currently being collected</a:t>
            </a:r>
          </a:p>
        </p:txBody>
      </p:sp>
    </p:spTree>
    <p:extLst>
      <p:ext uri="{BB962C8B-B14F-4D97-AF65-F5344CB8AC3E}">
        <p14:creationId xmlns:p14="http://schemas.microsoft.com/office/powerpoint/2010/main" val="4217875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847E1-F0D8-1E3C-BC2C-84D2C7FF5955}"/>
              </a:ext>
            </a:extLst>
          </p:cNvPr>
          <p:cNvSpPr>
            <a:spLocks noGrp="1"/>
          </p:cNvSpPr>
          <p:nvPr>
            <p:ph type="title"/>
          </p:nvPr>
        </p:nvSpPr>
        <p:spPr/>
        <p:txBody>
          <a:bodyPr/>
          <a:lstStyle/>
          <a:p>
            <a:r>
              <a:rPr lang="en-US" dirty="0"/>
              <a:t>Contextuality</a:t>
            </a:r>
          </a:p>
        </p:txBody>
      </p:sp>
      <p:sp>
        <p:nvSpPr>
          <p:cNvPr id="3" name="Content Placeholder 2">
            <a:extLst>
              <a:ext uri="{FF2B5EF4-FFF2-40B4-BE49-F238E27FC236}">
                <a16:creationId xmlns:a16="http://schemas.microsoft.com/office/drawing/2014/main" id="{E03639DC-0A2A-BD27-73FF-B551A2309CB0}"/>
              </a:ext>
            </a:extLst>
          </p:cNvPr>
          <p:cNvSpPr>
            <a:spLocks noGrp="1"/>
          </p:cNvSpPr>
          <p:nvPr>
            <p:ph idx="1"/>
          </p:nvPr>
        </p:nvSpPr>
        <p:spPr/>
        <p:txBody>
          <a:bodyPr>
            <a:normAutofit fontScale="85000" lnSpcReduction="20000"/>
          </a:bodyPr>
          <a:lstStyle/>
          <a:p>
            <a:r>
              <a:rPr lang="en-US" dirty="0"/>
              <a:t>How do we know if we are, in fact, measuring the same construct/factor/dimension when we get different values from all of these effects? </a:t>
            </a:r>
            <a:r>
              <a:rPr lang="en-US" dirty="0">
                <a:sym typeface="Wingdings" pitchFamily="2" charset="2"/>
              </a:rPr>
              <a:t></a:t>
            </a:r>
            <a:r>
              <a:rPr lang="en-US" dirty="0"/>
              <a:t> </a:t>
            </a:r>
            <a:r>
              <a:rPr lang="en-US" i="1" dirty="0"/>
              <a:t>Contextuality </a:t>
            </a:r>
          </a:p>
          <a:p>
            <a:r>
              <a:rPr lang="en-US" dirty="0"/>
              <a:t>Contextuality requires </a:t>
            </a:r>
            <a:r>
              <a:rPr lang="en-US" i="1" dirty="0"/>
              <a:t>at least two measurements </a:t>
            </a:r>
            <a:r>
              <a:rPr lang="en-US" dirty="0"/>
              <a:t>can be interpreted in several ways. </a:t>
            </a:r>
          </a:p>
          <a:p>
            <a:r>
              <a:rPr lang="en-US" dirty="0"/>
              <a:t>If we ask a model to resolve the pronoun for sentence A and the pronoun for sentence B and we find that this sentence is </a:t>
            </a:r>
            <a:r>
              <a:rPr lang="en-US" i="1" dirty="0"/>
              <a:t>contextual</a:t>
            </a:r>
            <a:r>
              <a:rPr lang="en-US" dirty="0"/>
              <a:t>, it means:</a:t>
            </a:r>
          </a:p>
          <a:p>
            <a:pPr lvl="1"/>
            <a:r>
              <a:rPr lang="en-US" dirty="0"/>
              <a:t>There is (logically) no way we can create a model of B which does not depend on A </a:t>
            </a:r>
          </a:p>
          <a:p>
            <a:pPr lvl="2"/>
            <a:r>
              <a:rPr lang="en-US" dirty="0"/>
              <a:t>In LLMs, we might think of this as saying that there is no “latent dimension” for B which is not a function of A</a:t>
            </a:r>
          </a:p>
          <a:p>
            <a:pPr lvl="3"/>
            <a:r>
              <a:rPr lang="en-US" dirty="0"/>
              <a:t>For gendered pronouns, this would be to say that if the model resolves the pronoun “her,” for B this is not coming from some “gender axis” but rather, is a function of the pronoun it ascribed A</a:t>
            </a:r>
          </a:p>
          <a:p>
            <a:pPr lvl="1"/>
            <a:r>
              <a:rPr lang="en-US" dirty="0"/>
              <a:t>In psychology, this is the “selectiveness of influences” which answers the question of whether, logically, the measurements can be attributed to the same latent construct</a:t>
            </a:r>
          </a:p>
          <a:p>
            <a:pPr lvl="1"/>
            <a:r>
              <a:rPr lang="en-US" dirty="0"/>
              <a:t>In language, we frame this as </a:t>
            </a:r>
            <a:r>
              <a:rPr lang="en-US" b="1" i="1" dirty="0"/>
              <a:t>the</a:t>
            </a:r>
            <a:r>
              <a:rPr lang="en-US" b="1" dirty="0"/>
              <a:t> </a:t>
            </a:r>
            <a:r>
              <a:rPr lang="en-US" b="1" i="1" dirty="0"/>
              <a:t>stability of the meaning </a:t>
            </a:r>
            <a:r>
              <a:rPr lang="en-US" i="1" dirty="0"/>
              <a:t>of the lexeme</a:t>
            </a:r>
          </a:p>
        </p:txBody>
      </p:sp>
    </p:spTree>
    <p:extLst>
      <p:ext uri="{BB962C8B-B14F-4D97-AF65-F5344CB8AC3E}">
        <p14:creationId xmlns:p14="http://schemas.microsoft.com/office/powerpoint/2010/main" val="3283681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C321EB7F-944E-DA09-C2AA-447212E664DD}"/>
                  </a:ext>
                </a:extLst>
              </p:cNvPr>
              <p:cNvSpPr txBox="1"/>
              <p:nvPr/>
            </p:nvSpPr>
            <p:spPr>
              <a:xfrm>
                <a:off x="7966710" y="868680"/>
                <a:ext cx="4046220" cy="4801314"/>
              </a:xfrm>
              <a:prstGeom prst="rect">
                <a:avLst/>
              </a:prstGeom>
              <a:noFill/>
            </p:spPr>
            <p:txBody>
              <a:bodyPr wrap="square" rtlCol="0">
                <a:spAutoFit/>
              </a:bodyPr>
              <a:lstStyle/>
              <a:p>
                <a:r>
                  <a:rPr lang="en-US" dirty="0"/>
                  <a:t>Strong contextuality (accounting for marginal selectivity) exists only when the degree of contextuality is positive (i.e. </a:t>
                </a:r>
                <a14:m>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𝐶</m:t>
                    </m:r>
                    <m:r>
                      <a:rPr lang="en-US" b="0" i="1" smtClean="0">
                        <a:latin typeface="Cambria Math" panose="02040503050406030204" pitchFamily="18" charset="0"/>
                      </a:rPr>
                      <m:t>&gt;0</m:t>
                    </m:r>
                  </m:oMath>
                </a14:m>
                <a:r>
                  <a:rPr lang="en-US" dirty="0"/>
                  <a:t>).</a:t>
                </a:r>
              </a:p>
              <a:p>
                <a:endParaRPr lang="en-US" dirty="0"/>
              </a:p>
              <a:p>
                <a:r>
                  <a:rPr lang="en-US" dirty="0"/>
                  <a:t>This does not occur for the model beliefs—seems like it should make sense, but I haven’t exactly figured out why</a:t>
                </a:r>
              </a:p>
              <a:p>
                <a:endParaRPr lang="en-US" dirty="0"/>
              </a:p>
              <a:p>
                <a:r>
                  <a:rPr lang="en-US" dirty="0"/>
                  <a:t>Occurs for both pronoun orderings in generation. This means that in these instances, the two sentences are entangled in the sense that the pronoun of the latter sentence can </a:t>
                </a:r>
                <a:r>
                  <a:rPr lang="en-US" i="1" dirty="0"/>
                  <a:t>only </a:t>
                </a:r>
                <a:r>
                  <a:rPr lang="en-US" dirty="0"/>
                  <a:t>be described as a function of the pronoun in the other.</a:t>
                </a:r>
              </a:p>
            </p:txBody>
          </p:sp>
        </mc:Choice>
        <mc:Fallback>
          <p:sp>
            <p:nvSpPr>
              <p:cNvPr id="6" name="TextBox 5">
                <a:extLst>
                  <a:ext uri="{FF2B5EF4-FFF2-40B4-BE49-F238E27FC236}">
                    <a16:creationId xmlns:a16="http://schemas.microsoft.com/office/drawing/2014/main" id="{C321EB7F-944E-DA09-C2AA-447212E664DD}"/>
                  </a:ext>
                </a:extLst>
              </p:cNvPr>
              <p:cNvSpPr txBox="1">
                <a:spLocks noRot="1" noChangeAspect="1" noMove="1" noResize="1" noEditPoints="1" noAdjustHandles="1" noChangeArrowheads="1" noChangeShapeType="1" noTextEdit="1"/>
              </p:cNvSpPr>
              <p:nvPr/>
            </p:nvSpPr>
            <p:spPr>
              <a:xfrm>
                <a:off x="7966710" y="868680"/>
                <a:ext cx="4046220" cy="4801314"/>
              </a:xfrm>
              <a:prstGeom prst="rect">
                <a:avLst/>
              </a:prstGeom>
              <a:blipFill>
                <a:blip r:embed="rId2"/>
                <a:stretch>
                  <a:fillRect l="-1250" t="-528" r="-1875" b="-1055"/>
                </a:stretch>
              </a:blipFill>
            </p:spPr>
            <p:txBody>
              <a:bodyPr/>
              <a:lstStyle/>
              <a:p>
                <a:r>
                  <a:rPr lang="en-US">
                    <a:noFill/>
                  </a:rPr>
                  <a:t> </a:t>
                </a:r>
              </a:p>
            </p:txBody>
          </p:sp>
        </mc:Fallback>
      </mc:AlternateContent>
      <p:pic>
        <p:nvPicPr>
          <p:cNvPr id="8" name="Picture 7" descr="A graph of different colors&#10;&#10;AI-generated content may be incorrect.">
            <a:extLst>
              <a:ext uri="{FF2B5EF4-FFF2-40B4-BE49-F238E27FC236}">
                <a16:creationId xmlns:a16="http://schemas.microsoft.com/office/drawing/2014/main" id="{E28E6F0B-9B80-F445-D219-1935B8EF6066}"/>
              </a:ext>
            </a:extLst>
          </p:cNvPr>
          <p:cNvPicPr>
            <a:picLocks noChangeAspect="1"/>
          </p:cNvPicPr>
          <p:nvPr/>
        </p:nvPicPr>
        <p:blipFill>
          <a:blip r:embed="rId3"/>
          <a:stretch>
            <a:fillRect/>
          </a:stretch>
        </p:blipFill>
        <p:spPr>
          <a:xfrm>
            <a:off x="888021" y="939207"/>
            <a:ext cx="6674540" cy="4979585"/>
          </a:xfrm>
          <a:prstGeom prst="rect">
            <a:avLst/>
          </a:prstGeom>
        </p:spPr>
      </p:pic>
    </p:spTree>
    <p:extLst>
      <p:ext uri="{BB962C8B-B14F-4D97-AF65-F5344CB8AC3E}">
        <p14:creationId xmlns:p14="http://schemas.microsoft.com/office/powerpoint/2010/main" val="1301642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52F78-CB45-7D39-EF97-02DBB257FD8D}"/>
              </a:ext>
            </a:extLst>
          </p:cNvPr>
          <p:cNvSpPr>
            <a:spLocks noGrp="1"/>
          </p:cNvSpPr>
          <p:nvPr>
            <p:ph type="title"/>
          </p:nvPr>
        </p:nvSpPr>
        <p:spPr/>
        <p:txBody>
          <a:bodyPr/>
          <a:lstStyle/>
          <a:p>
            <a:r>
              <a:rPr lang="en-US" dirty="0"/>
              <a:t>Contextuality in Llama 3.2 1B </a:t>
            </a:r>
          </a:p>
        </p:txBody>
      </p:sp>
      <p:pic>
        <p:nvPicPr>
          <p:cNvPr id="5" name="Content Placeholder 4">
            <a:extLst>
              <a:ext uri="{FF2B5EF4-FFF2-40B4-BE49-F238E27FC236}">
                <a16:creationId xmlns:a16="http://schemas.microsoft.com/office/drawing/2014/main" id="{E4CEE0B7-6202-4EBA-A6B0-6525B03FF026}"/>
              </a:ext>
            </a:extLst>
          </p:cNvPr>
          <p:cNvPicPr>
            <a:picLocks noGrp="1" noChangeAspect="1"/>
          </p:cNvPicPr>
          <p:nvPr>
            <p:ph idx="1"/>
          </p:nvPr>
        </p:nvPicPr>
        <p:blipFill>
          <a:blip r:embed="rId3"/>
          <a:stretch>
            <a:fillRect/>
          </a:stretch>
        </p:blipFill>
        <p:spPr>
          <a:xfrm>
            <a:off x="838200" y="2444985"/>
            <a:ext cx="10515600" cy="3112617"/>
          </a:xfrm>
        </p:spPr>
      </p:pic>
      <p:sp>
        <p:nvSpPr>
          <p:cNvPr id="3" name="TextBox 2">
            <a:extLst>
              <a:ext uri="{FF2B5EF4-FFF2-40B4-BE49-F238E27FC236}">
                <a16:creationId xmlns:a16="http://schemas.microsoft.com/office/drawing/2014/main" id="{EC7EB5D1-5D9E-E365-4817-CBE191A571F5}"/>
              </a:ext>
            </a:extLst>
          </p:cNvPr>
          <p:cNvSpPr txBox="1"/>
          <p:nvPr/>
        </p:nvSpPr>
        <p:spPr>
          <a:xfrm rot="18922937">
            <a:off x="10149840" y="1472882"/>
            <a:ext cx="1645920" cy="923330"/>
          </a:xfrm>
          <a:prstGeom prst="rect">
            <a:avLst/>
          </a:prstGeom>
          <a:noFill/>
        </p:spPr>
        <p:txBody>
          <a:bodyPr wrap="square" rtlCol="0">
            <a:spAutoFit/>
          </a:bodyPr>
          <a:lstStyle/>
          <a:p>
            <a:r>
              <a:rPr lang="en-US" dirty="0"/>
              <a:t>LOTS of contextual instances!</a:t>
            </a:r>
          </a:p>
        </p:txBody>
      </p:sp>
      <p:cxnSp>
        <p:nvCxnSpPr>
          <p:cNvPr id="6" name="Straight Arrow Connector 5">
            <a:extLst>
              <a:ext uri="{FF2B5EF4-FFF2-40B4-BE49-F238E27FC236}">
                <a16:creationId xmlns:a16="http://schemas.microsoft.com/office/drawing/2014/main" id="{8A7141B5-1DDD-7BFB-4C64-9BDC06498F64}"/>
              </a:ext>
            </a:extLst>
          </p:cNvPr>
          <p:cNvCxnSpPr/>
          <p:nvPr/>
        </p:nvCxnSpPr>
        <p:spPr>
          <a:xfrm flipH="1">
            <a:off x="10081260" y="2548890"/>
            <a:ext cx="285750" cy="3429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9852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5EC88-7777-3FE6-D54B-D3457269088F}"/>
              </a:ext>
            </a:extLst>
          </p:cNvPr>
          <p:cNvSpPr>
            <a:spLocks noGrp="1"/>
          </p:cNvSpPr>
          <p:nvPr>
            <p:ph type="title"/>
          </p:nvPr>
        </p:nvSpPr>
        <p:spPr/>
        <p:txBody>
          <a:bodyPr/>
          <a:lstStyle/>
          <a:p>
            <a:r>
              <a:rPr lang="en-US"/>
              <a:t>Contextuality in GPT-OSS 20B </a:t>
            </a:r>
            <a:endParaRPr lang="en-US" dirty="0"/>
          </a:p>
        </p:txBody>
      </p:sp>
      <p:sp>
        <p:nvSpPr>
          <p:cNvPr id="3" name="TextBox 2">
            <a:extLst>
              <a:ext uri="{FF2B5EF4-FFF2-40B4-BE49-F238E27FC236}">
                <a16:creationId xmlns:a16="http://schemas.microsoft.com/office/drawing/2014/main" id="{8D1871D7-81D8-0B50-7B2A-B7F9B996C5C5}"/>
              </a:ext>
            </a:extLst>
          </p:cNvPr>
          <p:cNvSpPr txBox="1"/>
          <p:nvPr/>
        </p:nvSpPr>
        <p:spPr>
          <a:xfrm rot="20042095">
            <a:off x="9441178" y="618866"/>
            <a:ext cx="2198370" cy="1200329"/>
          </a:xfrm>
          <a:prstGeom prst="rect">
            <a:avLst/>
          </a:prstGeom>
          <a:noFill/>
        </p:spPr>
        <p:txBody>
          <a:bodyPr wrap="square" rtlCol="0">
            <a:spAutoFit/>
          </a:bodyPr>
          <a:lstStyle/>
          <a:p>
            <a:r>
              <a:rPr lang="en-US" dirty="0"/>
              <a:t>Even the latest and greatest models exhibit contextuality!</a:t>
            </a:r>
          </a:p>
        </p:txBody>
      </p:sp>
      <p:pic>
        <p:nvPicPr>
          <p:cNvPr id="8" name="Content Placeholder 7">
            <a:extLst>
              <a:ext uri="{FF2B5EF4-FFF2-40B4-BE49-F238E27FC236}">
                <a16:creationId xmlns:a16="http://schemas.microsoft.com/office/drawing/2014/main" id="{EAF90731-4054-D9C9-3E84-363E2F6ED785}"/>
              </a:ext>
            </a:extLst>
          </p:cNvPr>
          <p:cNvPicPr>
            <a:picLocks noGrp="1" noChangeAspect="1"/>
          </p:cNvPicPr>
          <p:nvPr>
            <p:ph idx="1"/>
          </p:nvPr>
        </p:nvPicPr>
        <p:blipFill>
          <a:blip r:embed="rId2"/>
          <a:stretch>
            <a:fillRect/>
          </a:stretch>
        </p:blipFill>
        <p:spPr>
          <a:xfrm>
            <a:off x="838200" y="2363619"/>
            <a:ext cx="10515600" cy="3275350"/>
          </a:xfrm>
        </p:spPr>
      </p:pic>
    </p:spTree>
    <p:extLst>
      <p:ext uri="{BB962C8B-B14F-4D97-AF65-F5344CB8AC3E}">
        <p14:creationId xmlns:p14="http://schemas.microsoft.com/office/powerpoint/2010/main" val="979171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33EBA0-8584-CC12-0D1E-9617C26EE94F}"/>
              </a:ext>
            </a:extLst>
          </p:cNvPr>
          <p:cNvSpPr>
            <a:spLocks noGrp="1"/>
          </p:cNvSpPr>
          <p:nvPr>
            <p:ph type="title"/>
          </p:nvPr>
        </p:nvSpPr>
        <p:spPr/>
        <p:txBody>
          <a:bodyPr/>
          <a:lstStyle/>
          <a:p>
            <a:r>
              <a:rPr lang="en-US" dirty="0"/>
              <a:t>Qwen 1.5 0.5B Results</a:t>
            </a:r>
          </a:p>
        </p:txBody>
      </p:sp>
      <p:sp>
        <p:nvSpPr>
          <p:cNvPr id="5" name="Text Placeholder 4">
            <a:extLst>
              <a:ext uri="{FF2B5EF4-FFF2-40B4-BE49-F238E27FC236}">
                <a16:creationId xmlns:a16="http://schemas.microsoft.com/office/drawing/2014/main" id="{73473815-912E-5EF2-A7CC-064999962E0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69691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4E043-235A-FD4B-6CB7-21F6492927F4}"/>
              </a:ext>
            </a:extLst>
          </p:cNvPr>
          <p:cNvSpPr>
            <a:spLocks noGrp="1"/>
          </p:cNvSpPr>
          <p:nvPr>
            <p:ph type="title"/>
          </p:nvPr>
        </p:nvSpPr>
        <p:spPr/>
        <p:txBody>
          <a:bodyPr/>
          <a:lstStyle/>
          <a:p>
            <a:r>
              <a:rPr lang="en-US" dirty="0"/>
              <a:t>Belief V. Generation</a:t>
            </a:r>
          </a:p>
        </p:txBody>
      </p:sp>
      <p:pic>
        <p:nvPicPr>
          <p:cNvPr id="5" name="Content Placeholder 4" descr="A graph of blue dots&#10;&#10;AI-generated content may be incorrect.">
            <a:extLst>
              <a:ext uri="{FF2B5EF4-FFF2-40B4-BE49-F238E27FC236}">
                <a16:creationId xmlns:a16="http://schemas.microsoft.com/office/drawing/2014/main" id="{85BAAB3F-BD47-61CD-750B-06C92480C527}"/>
              </a:ext>
            </a:extLst>
          </p:cNvPr>
          <p:cNvPicPr>
            <a:picLocks noGrp="1" noChangeAspect="1"/>
          </p:cNvPicPr>
          <p:nvPr>
            <p:ph idx="1"/>
          </p:nvPr>
        </p:nvPicPr>
        <p:blipFill>
          <a:blip r:embed="rId2"/>
          <a:stretch>
            <a:fillRect/>
          </a:stretch>
        </p:blipFill>
        <p:spPr>
          <a:xfrm>
            <a:off x="2586551" y="1825625"/>
            <a:ext cx="7018897" cy="4351338"/>
          </a:xfrm>
        </p:spPr>
      </p:pic>
    </p:spTree>
    <p:extLst>
      <p:ext uri="{BB962C8B-B14F-4D97-AF65-F5344CB8AC3E}">
        <p14:creationId xmlns:p14="http://schemas.microsoft.com/office/powerpoint/2010/main" val="4033529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95A51-68D3-7ECD-3652-1A59BAB48C8E}"/>
              </a:ext>
            </a:extLst>
          </p:cNvPr>
          <p:cNvSpPr>
            <a:spLocks noGrp="1"/>
          </p:cNvSpPr>
          <p:nvPr>
            <p:ph type="title"/>
          </p:nvPr>
        </p:nvSpPr>
        <p:spPr/>
        <p:txBody>
          <a:bodyPr/>
          <a:lstStyle/>
          <a:p>
            <a:r>
              <a:rPr lang="en-US" dirty="0"/>
              <a:t>Belief v. Generation</a:t>
            </a:r>
          </a:p>
        </p:txBody>
      </p:sp>
      <p:pic>
        <p:nvPicPr>
          <p:cNvPr id="5" name="Content Placeholder 4" descr="A graph of a number of blue squares&#10;&#10;AI-generated content may be incorrect.">
            <a:extLst>
              <a:ext uri="{FF2B5EF4-FFF2-40B4-BE49-F238E27FC236}">
                <a16:creationId xmlns:a16="http://schemas.microsoft.com/office/drawing/2014/main" id="{B490D337-4610-64F5-B8D4-69186B647AD3}"/>
              </a:ext>
            </a:extLst>
          </p:cNvPr>
          <p:cNvPicPr>
            <a:picLocks noGrp="1" noChangeAspect="1"/>
          </p:cNvPicPr>
          <p:nvPr>
            <p:ph idx="1"/>
          </p:nvPr>
        </p:nvPicPr>
        <p:blipFill>
          <a:blip r:embed="rId2"/>
          <a:stretch>
            <a:fillRect/>
          </a:stretch>
        </p:blipFill>
        <p:spPr>
          <a:xfrm>
            <a:off x="3361845" y="1825625"/>
            <a:ext cx="5468310" cy="4351338"/>
          </a:xfrm>
        </p:spPr>
      </p:pic>
    </p:spTree>
    <p:extLst>
      <p:ext uri="{BB962C8B-B14F-4D97-AF65-F5344CB8AC3E}">
        <p14:creationId xmlns:p14="http://schemas.microsoft.com/office/powerpoint/2010/main" val="2728975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78D9-1C69-AB7A-5129-F42A2E878A29}"/>
              </a:ext>
            </a:extLst>
          </p:cNvPr>
          <p:cNvSpPr>
            <a:spLocks noGrp="1"/>
          </p:cNvSpPr>
          <p:nvPr>
            <p:ph type="title"/>
          </p:nvPr>
        </p:nvSpPr>
        <p:spPr/>
        <p:txBody>
          <a:bodyPr/>
          <a:lstStyle/>
          <a:p>
            <a:r>
              <a:rPr lang="en-US" dirty="0"/>
              <a:t>Ordering Effects</a:t>
            </a:r>
          </a:p>
        </p:txBody>
      </p:sp>
      <p:pic>
        <p:nvPicPr>
          <p:cNvPr id="5" name="Content Placeholder 4" descr="A graph of a model&#10;&#10;AI-generated content may be incorrect.">
            <a:extLst>
              <a:ext uri="{FF2B5EF4-FFF2-40B4-BE49-F238E27FC236}">
                <a16:creationId xmlns:a16="http://schemas.microsoft.com/office/drawing/2014/main" id="{D91AEE41-5449-670C-4BB8-A5C9AD6C9474}"/>
              </a:ext>
            </a:extLst>
          </p:cNvPr>
          <p:cNvPicPr>
            <a:picLocks noGrp="1" noChangeAspect="1"/>
          </p:cNvPicPr>
          <p:nvPr>
            <p:ph idx="1"/>
          </p:nvPr>
        </p:nvPicPr>
        <p:blipFill>
          <a:blip r:embed="rId2"/>
          <a:stretch>
            <a:fillRect/>
          </a:stretch>
        </p:blipFill>
        <p:spPr>
          <a:xfrm>
            <a:off x="1190577" y="2388506"/>
            <a:ext cx="4850364" cy="3678464"/>
          </a:xfrm>
        </p:spPr>
      </p:pic>
      <p:pic>
        <p:nvPicPr>
          <p:cNvPr id="6" name="Content Placeholder 4" descr="A graph with blue dots&#10;&#10;AI-generated content may be incorrect.">
            <a:extLst>
              <a:ext uri="{FF2B5EF4-FFF2-40B4-BE49-F238E27FC236}">
                <a16:creationId xmlns:a16="http://schemas.microsoft.com/office/drawing/2014/main" id="{911A74B2-F4D7-AD1A-5D6A-C2E3C76E9D2B}"/>
              </a:ext>
            </a:extLst>
          </p:cNvPr>
          <p:cNvPicPr>
            <a:picLocks noChangeAspect="1"/>
          </p:cNvPicPr>
          <p:nvPr/>
        </p:nvPicPr>
        <p:blipFill>
          <a:blip r:embed="rId3"/>
          <a:stretch>
            <a:fillRect/>
          </a:stretch>
        </p:blipFill>
        <p:spPr>
          <a:xfrm>
            <a:off x="6304813" y="2388506"/>
            <a:ext cx="4696610" cy="3678464"/>
          </a:xfrm>
          <a:prstGeom prst="rect">
            <a:avLst/>
          </a:prstGeom>
        </p:spPr>
      </p:pic>
    </p:spTree>
    <p:extLst>
      <p:ext uri="{BB962C8B-B14F-4D97-AF65-F5344CB8AC3E}">
        <p14:creationId xmlns:p14="http://schemas.microsoft.com/office/powerpoint/2010/main" val="2502977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BC082-97C0-1E85-089E-809DF699099D}"/>
              </a:ext>
            </a:extLst>
          </p:cNvPr>
          <p:cNvSpPr>
            <a:spLocks noGrp="1"/>
          </p:cNvSpPr>
          <p:nvPr>
            <p:ph type="title"/>
          </p:nvPr>
        </p:nvSpPr>
        <p:spPr/>
        <p:txBody>
          <a:bodyPr/>
          <a:lstStyle/>
          <a:p>
            <a:r>
              <a:rPr lang="en-US" dirty="0"/>
              <a:t>Priming Effects</a:t>
            </a:r>
          </a:p>
        </p:txBody>
      </p:sp>
      <p:pic>
        <p:nvPicPr>
          <p:cNvPr id="5" name="Content Placeholder 4" descr="A graph of different sizes of numbers&#10;&#10;AI-generated content may be incorrect.">
            <a:extLst>
              <a:ext uri="{FF2B5EF4-FFF2-40B4-BE49-F238E27FC236}">
                <a16:creationId xmlns:a16="http://schemas.microsoft.com/office/drawing/2014/main" id="{BFDFC601-24E1-3707-E563-4391DBE9E903}"/>
              </a:ext>
            </a:extLst>
          </p:cNvPr>
          <p:cNvPicPr>
            <a:picLocks noGrp="1" noChangeAspect="1"/>
          </p:cNvPicPr>
          <p:nvPr>
            <p:ph idx="1"/>
          </p:nvPr>
        </p:nvPicPr>
        <p:blipFill>
          <a:blip r:embed="rId2"/>
          <a:stretch>
            <a:fillRect/>
          </a:stretch>
        </p:blipFill>
        <p:spPr>
          <a:xfrm>
            <a:off x="3162773" y="1825625"/>
            <a:ext cx="5866453" cy="4351338"/>
          </a:xfrm>
        </p:spPr>
      </p:pic>
    </p:spTree>
    <p:extLst>
      <p:ext uri="{BB962C8B-B14F-4D97-AF65-F5344CB8AC3E}">
        <p14:creationId xmlns:p14="http://schemas.microsoft.com/office/powerpoint/2010/main" val="288255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3340D-F868-039C-8386-68B65F2B07F9}"/>
              </a:ext>
            </a:extLst>
          </p:cNvPr>
          <p:cNvSpPr>
            <a:spLocks noGrp="1"/>
          </p:cNvSpPr>
          <p:nvPr>
            <p:ph type="title"/>
          </p:nvPr>
        </p:nvSpPr>
        <p:spPr/>
        <p:txBody>
          <a:bodyPr/>
          <a:lstStyle/>
          <a:p>
            <a:r>
              <a:rPr lang="en-US" dirty="0"/>
              <a:t>Framing Effects</a:t>
            </a:r>
          </a:p>
        </p:txBody>
      </p:sp>
      <p:sp>
        <p:nvSpPr>
          <p:cNvPr id="4" name="TextBox 3">
            <a:extLst>
              <a:ext uri="{FF2B5EF4-FFF2-40B4-BE49-F238E27FC236}">
                <a16:creationId xmlns:a16="http://schemas.microsoft.com/office/drawing/2014/main" id="{232AF491-EEDA-4423-8A26-6325E16C32BF}"/>
              </a:ext>
            </a:extLst>
          </p:cNvPr>
          <p:cNvSpPr txBox="1"/>
          <p:nvPr/>
        </p:nvSpPr>
        <p:spPr>
          <a:xfrm>
            <a:off x="3861435" y="3244334"/>
            <a:ext cx="4469130" cy="369332"/>
          </a:xfrm>
          <a:prstGeom prst="rect">
            <a:avLst/>
          </a:prstGeom>
          <a:noFill/>
        </p:spPr>
        <p:txBody>
          <a:bodyPr wrap="square" rtlCol="0">
            <a:spAutoFit/>
          </a:bodyPr>
          <a:lstStyle/>
          <a:p>
            <a:pPr algn="ctr"/>
            <a:r>
              <a:rPr lang="en-US" i="1" dirty="0"/>
              <a:t>Results currently being collected</a:t>
            </a:r>
          </a:p>
        </p:txBody>
      </p:sp>
    </p:spTree>
    <p:extLst>
      <p:ext uri="{BB962C8B-B14F-4D97-AF65-F5344CB8AC3E}">
        <p14:creationId xmlns:p14="http://schemas.microsoft.com/office/powerpoint/2010/main" val="2299047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different colored lines&#10;&#10;AI-generated content may be incorrect.">
            <a:extLst>
              <a:ext uri="{FF2B5EF4-FFF2-40B4-BE49-F238E27FC236}">
                <a16:creationId xmlns:a16="http://schemas.microsoft.com/office/drawing/2014/main" id="{75409DD4-A4EF-94D5-F537-751ECF535ECD}"/>
              </a:ext>
            </a:extLst>
          </p:cNvPr>
          <p:cNvPicPr>
            <a:picLocks noGrp="1" noChangeAspect="1"/>
          </p:cNvPicPr>
          <p:nvPr>
            <p:ph idx="1"/>
          </p:nvPr>
        </p:nvPicPr>
        <p:blipFill>
          <a:blip r:embed="rId2"/>
          <a:stretch>
            <a:fillRect/>
          </a:stretch>
        </p:blipFill>
        <p:spPr>
          <a:xfrm>
            <a:off x="1430000" y="747077"/>
            <a:ext cx="7251740" cy="5363845"/>
          </a:xfrm>
        </p:spPr>
      </p:pic>
      <p:sp>
        <p:nvSpPr>
          <p:cNvPr id="6" name="TextBox 5">
            <a:extLst>
              <a:ext uri="{FF2B5EF4-FFF2-40B4-BE49-F238E27FC236}">
                <a16:creationId xmlns:a16="http://schemas.microsoft.com/office/drawing/2014/main" id="{9CFE300E-891C-486F-A568-2223AED5EC5B}"/>
              </a:ext>
            </a:extLst>
          </p:cNvPr>
          <p:cNvSpPr txBox="1"/>
          <p:nvPr/>
        </p:nvSpPr>
        <p:spPr>
          <a:xfrm>
            <a:off x="9315450" y="1017270"/>
            <a:ext cx="2183130" cy="1477328"/>
          </a:xfrm>
          <a:prstGeom prst="rect">
            <a:avLst/>
          </a:prstGeom>
          <a:noFill/>
        </p:spPr>
        <p:txBody>
          <a:bodyPr wrap="square" rtlCol="0">
            <a:spAutoFit/>
          </a:bodyPr>
          <a:lstStyle/>
          <a:p>
            <a:r>
              <a:rPr lang="en-US" dirty="0"/>
              <a:t>Fewer instances than Llama 3.2 1B (a bigger model) but still very much present. </a:t>
            </a:r>
          </a:p>
        </p:txBody>
      </p:sp>
    </p:spTree>
    <p:extLst>
      <p:ext uri="{BB962C8B-B14F-4D97-AF65-F5344CB8AC3E}">
        <p14:creationId xmlns:p14="http://schemas.microsoft.com/office/powerpoint/2010/main" val="3021744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B8794-4486-A226-BB17-16D2C1C83FEC}"/>
              </a:ext>
            </a:extLst>
          </p:cNvPr>
          <p:cNvSpPr>
            <a:spLocks noGrp="1"/>
          </p:cNvSpPr>
          <p:nvPr>
            <p:ph type="title"/>
          </p:nvPr>
        </p:nvSpPr>
        <p:spPr/>
        <p:txBody>
          <a:bodyPr/>
          <a:lstStyle/>
          <a:p>
            <a:endParaRPr lang="en-US"/>
          </a:p>
        </p:txBody>
      </p:sp>
      <p:pic>
        <p:nvPicPr>
          <p:cNvPr id="5" name="Content Placeholder 4" descr="A graph of different types of lines&#10;&#10;AI-generated content may be incorrect.">
            <a:extLst>
              <a:ext uri="{FF2B5EF4-FFF2-40B4-BE49-F238E27FC236}">
                <a16:creationId xmlns:a16="http://schemas.microsoft.com/office/drawing/2014/main" id="{E37CC3D5-F09A-EFAB-C531-C1F47E6ADA78}"/>
              </a:ext>
            </a:extLst>
          </p:cNvPr>
          <p:cNvPicPr>
            <a:picLocks noGrp="1" noChangeAspect="1"/>
          </p:cNvPicPr>
          <p:nvPr>
            <p:ph idx="1"/>
          </p:nvPr>
        </p:nvPicPr>
        <p:blipFill>
          <a:blip r:embed="rId2"/>
          <a:stretch>
            <a:fillRect/>
          </a:stretch>
        </p:blipFill>
        <p:spPr>
          <a:xfrm>
            <a:off x="3280428" y="1825625"/>
            <a:ext cx="5631143" cy="4351338"/>
          </a:xfrm>
        </p:spPr>
      </p:pic>
      <p:sp>
        <p:nvSpPr>
          <p:cNvPr id="6" name="TextBox 5">
            <a:extLst>
              <a:ext uri="{FF2B5EF4-FFF2-40B4-BE49-F238E27FC236}">
                <a16:creationId xmlns:a16="http://schemas.microsoft.com/office/drawing/2014/main" id="{9D254DE9-DDB7-6B5B-038A-83A70FCFD53D}"/>
              </a:ext>
            </a:extLst>
          </p:cNvPr>
          <p:cNvSpPr txBox="1"/>
          <p:nvPr/>
        </p:nvSpPr>
        <p:spPr>
          <a:xfrm>
            <a:off x="9372600" y="2320290"/>
            <a:ext cx="2103120" cy="646331"/>
          </a:xfrm>
          <a:prstGeom prst="rect">
            <a:avLst/>
          </a:prstGeom>
          <a:noFill/>
        </p:spPr>
        <p:txBody>
          <a:bodyPr wrap="square" rtlCol="0">
            <a:spAutoFit/>
          </a:bodyPr>
          <a:lstStyle/>
          <a:p>
            <a:r>
              <a:rPr lang="en-US" dirty="0" err="1"/>
              <a:t>Soooo</a:t>
            </a:r>
            <a:r>
              <a:rPr lang="en-US" dirty="0"/>
              <a:t> much contextuality</a:t>
            </a:r>
          </a:p>
        </p:txBody>
      </p:sp>
    </p:spTree>
    <p:extLst>
      <p:ext uri="{BB962C8B-B14F-4D97-AF65-F5344CB8AC3E}">
        <p14:creationId xmlns:p14="http://schemas.microsoft.com/office/powerpoint/2010/main" val="4196349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19C78-6954-EB81-FB5F-7508AFB905CD}"/>
              </a:ext>
            </a:extLst>
          </p:cNvPr>
          <p:cNvSpPr>
            <a:spLocks noGrp="1"/>
          </p:cNvSpPr>
          <p:nvPr>
            <p:ph type="title"/>
          </p:nvPr>
        </p:nvSpPr>
        <p:spPr/>
        <p:txBody>
          <a:bodyPr/>
          <a:lstStyle/>
          <a:p>
            <a:r>
              <a:rPr lang="en-US" dirty="0"/>
              <a:t>What this means</a:t>
            </a:r>
          </a:p>
        </p:txBody>
      </p:sp>
      <p:sp>
        <p:nvSpPr>
          <p:cNvPr id="3" name="Content Placeholder 2">
            <a:extLst>
              <a:ext uri="{FF2B5EF4-FFF2-40B4-BE49-F238E27FC236}">
                <a16:creationId xmlns:a16="http://schemas.microsoft.com/office/drawing/2014/main" id="{F7FC44F4-27FC-4B94-ECFA-90DE5C406064}"/>
              </a:ext>
            </a:extLst>
          </p:cNvPr>
          <p:cNvSpPr>
            <a:spLocks noGrp="1"/>
          </p:cNvSpPr>
          <p:nvPr>
            <p:ph idx="1"/>
          </p:nvPr>
        </p:nvSpPr>
        <p:spPr/>
        <p:txBody>
          <a:bodyPr/>
          <a:lstStyle/>
          <a:p>
            <a:r>
              <a:rPr lang="en-US" i="1" dirty="0"/>
              <a:t>When the model fills in a blank in a sentence, the answer isn’t just about the word itself — it depends on the situation we create with an earlier sentence. The very meaning of the pronoun, “she” (or any others) is only defined in the context of the pair of sentences. The meaning of the pronoun can’t be treated as having been “fixed” ahead of time. It’s like how a joke only makes sense after the setup: the context completely changes the response. That’s what we mean when we say the task is ‘contextual.’</a:t>
            </a:r>
            <a:endParaRPr lang="en-US" dirty="0"/>
          </a:p>
        </p:txBody>
      </p:sp>
    </p:spTree>
    <p:extLst>
      <p:ext uri="{BB962C8B-B14F-4D97-AF65-F5344CB8AC3E}">
        <p14:creationId xmlns:p14="http://schemas.microsoft.com/office/powerpoint/2010/main" val="30456844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22386-F8C2-AC76-87DD-BAE0DDB13C0F}"/>
              </a:ext>
            </a:extLst>
          </p:cNvPr>
          <p:cNvSpPr>
            <a:spLocks noGrp="1"/>
          </p:cNvSpPr>
          <p:nvPr>
            <p:ph type="title"/>
          </p:nvPr>
        </p:nvSpPr>
        <p:spPr/>
        <p:txBody>
          <a:bodyPr/>
          <a:lstStyle/>
          <a:p>
            <a:r>
              <a:rPr lang="en-US" dirty="0"/>
              <a:t>Contextuality in Qwen 1.5 0.5B</a:t>
            </a:r>
          </a:p>
        </p:txBody>
      </p:sp>
      <p:pic>
        <p:nvPicPr>
          <p:cNvPr id="5" name="Content Placeholder 4">
            <a:extLst>
              <a:ext uri="{FF2B5EF4-FFF2-40B4-BE49-F238E27FC236}">
                <a16:creationId xmlns:a16="http://schemas.microsoft.com/office/drawing/2014/main" id="{68550921-69ED-2A1E-D758-5A4337FCDE53}"/>
              </a:ext>
            </a:extLst>
          </p:cNvPr>
          <p:cNvPicPr>
            <a:picLocks noGrp="1" noChangeAspect="1"/>
          </p:cNvPicPr>
          <p:nvPr>
            <p:ph idx="1"/>
          </p:nvPr>
        </p:nvPicPr>
        <p:blipFill>
          <a:blip r:embed="rId2"/>
          <a:stretch>
            <a:fillRect/>
          </a:stretch>
        </p:blipFill>
        <p:spPr>
          <a:xfrm>
            <a:off x="838200" y="2426596"/>
            <a:ext cx="10515600" cy="3149395"/>
          </a:xfrm>
        </p:spPr>
      </p:pic>
    </p:spTree>
    <p:extLst>
      <p:ext uri="{BB962C8B-B14F-4D97-AF65-F5344CB8AC3E}">
        <p14:creationId xmlns:p14="http://schemas.microsoft.com/office/powerpoint/2010/main" val="2139159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481B9-A597-E48F-AC59-E1A2784BB01F}"/>
              </a:ext>
            </a:extLst>
          </p:cNvPr>
          <p:cNvSpPr>
            <a:spLocks noGrp="1"/>
          </p:cNvSpPr>
          <p:nvPr>
            <p:ph type="title"/>
          </p:nvPr>
        </p:nvSpPr>
        <p:spPr/>
        <p:txBody>
          <a:bodyPr/>
          <a:lstStyle/>
          <a:p>
            <a:r>
              <a:rPr lang="en-US" dirty="0"/>
              <a:t>Takeaways</a:t>
            </a:r>
          </a:p>
        </p:txBody>
      </p:sp>
      <p:sp>
        <p:nvSpPr>
          <p:cNvPr id="3" name="Content Placeholder 2">
            <a:extLst>
              <a:ext uri="{FF2B5EF4-FFF2-40B4-BE49-F238E27FC236}">
                <a16:creationId xmlns:a16="http://schemas.microsoft.com/office/drawing/2014/main" id="{71E59C53-E96C-5EA0-6507-0D4937EB95B0}"/>
              </a:ext>
            </a:extLst>
          </p:cNvPr>
          <p:cNvSpPr>
            <a:spLocks noGrp="1"/>
          </p:cNvSpPr>
          <p:nvPr>
            <p:ph idx="1"/>
          </p:nvPr>
        </p:nvSpPr>
        <p:spPr/>
        <p:txBody>
          <a:bodyPr>
            <a:normAutofit fontScale="92500" lnSpcReduction="20000"/>
          </a:bodyPr>
          <a:lstStyle/>
          <a:p>
            <a:r>
              <a:rPr lang="en-US" dirty="0"/>
              <a:t>A two part story is forming:</a:t>
            </a:r>
          </a:p>
          <a:p>
            <a:pPr lvl="1"/>
            <a:r>
              <a:rPr lang="en-US" dirty="0"/>
              <a:t>testing pragmatic effects (order, priming, and framing)</a:t>
            </a:r>
          </a:p>
          <a:p>
            <a:pPr lvl="1"/>
            <a:r>
              <a:rPr lang="en-US" dirty="0"/>
              <a:t>determining whether the meaning of “he/she/his/her/etc.” is stable </a:t>
            </a:r>
          </a:p>
          <a:p>
            <a:pPr lvl="2"/>
            <a:r>
              <a:rPr lang="en-US" dirty="0"/>
              <a:t>Some difficulties trying to work out how to explain this and its consequences, so a conversation would be good</a:t>
            </a:r>
          </a:p>
          <a:p>
            <a:r>
              <a:rPr lang="en-US" dirty="0"/>
              <a:t>So far, there seem to be important results </a:t>
            </a:r>
            <a:r>
              <a:rPr lang="en-US" dirty="0" err="1"/>
              <a:t>w.r.t</a:t>
            </a:r>
            <a:r>
              <a:rPr lang="en-US" dirty="0"/>
              <a:t> gender in prompting. </a:t>
            </a:r>
          </a:p>
          <a:p>
            <a:pPr lvl="1"/>
            <a:r>
              <a:rPr lang="en-US" dirty="0"/>
              <a:t>Female-pronoun-first options lead to heavy skews in the responses</a:t>
            </a:r>
          </a:p>
          <a:p>
            <a:pPr lvl="1"/>
            <a:r>
              <a:rPr lang="en-US" dirty="0"/>
              <a:t>Female character in priming sentences lead to skews especially in generation</a:t>
            </a:r>
          </a:p>
          <a:p>
            <a:r>
              <a:rPr lang="en-US" dirty="0"/>
              <a:t>No models thus far have shown option-order contextuality, but all have shown sentence-order contextuality contingent on option ordering</a:t>
            </a:r>
          </a:p>
          <a:p>
            <a:r>
              <a:rPr lang="en-US" i="1" dirty="0"/>
              <a:t>Still need to show the effect of temperature</a:t>
            </a:r>
          </a:p>
          <a:p>
            <a:r>
              <a:rPr lang="en-US" dirty="0"/>
              <a:t>Contextuality may feel like a nuance in application, but could likely prove to </a:t>
            </a:r>
            <a:r>
              <a:rPr lang="en-US"/>
              <a:t>be important for </a:t>
            </a:r>
            <a:r>
              <a:rPr lang="en-US" dirty="0"/>
              <a:t>linguistic theory </a:t>
            </a:r>
          </a:p>
        </p:txBody>
      </p:sp>
    </p:spTree>
    <p:extLst>
      <p:ext uri="{BB962C8B-B14F-4D97-AF65-F5344CB8AC3E}">
        <p14:creationId xmlns:p14="http://schemas.microsoft.com/office/powerpoint/2010/main" val="3817665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8eec281-aaa3-4dae-ac9b-9a398b9215e7}" enabled="0" method="" siteId="{a8eec281-aaa3-4dae-ac9b-9a398b9215e7}" removed="1"/>
</clbl:labelList>
</file>

<file path=docProps/app.xml><?xml version="1.0" encoding="utf-8"?>
<Properties xmlns="http://schemas.openxmlformats.org/officeDocument/2006/extended-properties" xmlns:vt="http://schemas.openxmlformats.org/officeDocument/2006/docPropsVTypes">
  <TotalTime>10708</TotalTime>
  <Words>1505</Words>
  <Application>Microsoft Macintosh PowerPoint</Application>
  <PresentationFormat>Widescreen</PresentationFormat>
  <Paragraphs>109</Paragraphs>
  <Slides>26</Slides>
  <Notes>1</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Aptos Display</vt:lpstr>
      <vt:lpstr>Arial</vt:lpstr>
      <vt:lpstr>Cambria Math</vt:lpstr>
      <vt:lpstr>Franklin Gothic Book</vt:lpstr>
      <vt:lpstr>Wingdings</vt:lpstr>
      <vt:lpstr>Office Theme</vt:lpstr>
      <vt:lpstr>The Stability of Meaning in Language Models: Assessing Contextual Influence in Causal LMs’ Gendered Pronoun Selection</vt:lpstr>
      <vt:lpstr>Paper Outline</vt:lpstr>
      <vt:lpstr>Open Questions</vt:lpstr>
      <vt:lpstr>Basics about Language Models</vt:lpstr>
      <vt:lpstr>Basics About Linguistic Meaning</vt:lpstr>
      <vt:lpstr>Llama 3.2 1B Results</vt:lpstr>
      <vt:lpstr>Belief vs. Generation</vt:lpstr>
      <vt:lpstr>Belief vs. Generation</vt:lpstr>
      <vt:lpstr>Ordering Effects</vt:lpstr>
      <vt:lpstr>Priming Effects</vt:lpstr>
      <vt:lpstr>Framing Effects</vt:lpstr>
      <vt:lpstr>Contextuality</vt:lpstr>
      <vt:lpstr>PowerPoint Presentation</vt:lpstr>
      <vt:lpstr>Contextuality in Llama 3.2 1B </vt:lpstr>
      <vt:lpstr>Contextuality in GPT-OSS 20B </vt:lpstr>
      <vt:lpstr>Qwen 1.5 0.5B Results</vt:lpstr>
      <vt:lpstr>Belief V. Generation</vt:lpstr>
      <vt:lpstr>Belief v. Generation</vt:lpstr>
      <vt:lpstr>Ordering Effects</vt:lpstr>
      <vt:lpstr>Priming Effects</vt:lpstr>
      <vt:lpstr>Framing Effects</vt:lpstr>
      <vt:lpstr>PowerPoint Presentation</vt:lpstr>
      <vt:lpstr>PowerPoint Presentation</vt:lpstr>
      <vt:lpstr>What this means</vt:lpstr>
      <vt:lpstr>Contextuality in Qwen 1.5 0.5B</vt:lpstr>
      <vt:lpstr>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Sagar Kumar</dc:creator>
  <cp:lastModifiedBy>Sagar Kumar</cp:lastModifiedBy>
  <cp:revision>17</cp:revision>
  <dcterms:created xsi:type="dcterms:W3CDTF">2025-08-22T00:51:18Z</dcterms:created>
  <dcterms:modified xsi:type="dcterms:W3CDTF">2025-09-01T15:04:44Z</dcterms:modified>
</cp:coreProperties>
</file>